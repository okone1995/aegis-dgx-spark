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efc6f8a089a4763" /><Relationship Type="http://schemas.openxmlformats.org/officeDocument/2006/relationships/extended-properties" Target="/docProps/app.xml" Id="R9a56461179ff46ff" /><Relationship Type="http://schemas.openxmlformats.org/officeDocument/2006/relationships/officeDocument" Target="/ppt/presentation.xml" Id="Rafa6390885f04ca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3121ce0ecb6459e"/>
  </p:sldMasterIdLst>
  <p:notesMasterIdLst>
    <p:notesMasterId xmlns:r="http://schemas.openxmlformats.org/officeDocument/2006/relationships" r:id="R9186adc908724a53"/>
  </p:notesMasterIdLst>
  <p:sldIdLst>
    <p:sldId xmlns:r="http://schemas.openxmlformats.org/officeDocument/2006/relationships" id="256" r:id="Ra1f9d11e75d842e4"/>
    <p:sldId xmlns:r="http://schemas.openxmlformats.org/officeDocument/2006/relationships" id="257" r:id="R6eb53221a2c945c2"/>
    <p:sldId xmlns:r="http://schemas.openxmlformats.org/officeDocument/2006/relationships" id="258" r:id="R9fa3821b65724411"/>
    <p:sldId xmlns:r="http://schemas.openxmlformats.org/officeDocument/2006/relationships" id="259" r:id="Rb888af70364b4d3d"/>
    <p:sldId xmlns:r="http://schemas.openxmlformats.org/officeDocument/2006/relationships" id="260" r:id="R12aacfe2332044c4"/>
    <p:sldId xmlns:r="http://schemas.openxmlformats.org/officeDocument/2006/relationships" id="261" r:id="Raf72402f2e454108"/>
    <p:sldId xmlns:r="http://schemas.openxmlformats.org/officeDocument/2006/relationships" id="262" r:id="R0ba2746c529e4aa2"/>
    <p:sldId xmlns:r="http://schemas.openxmlformats.org/officeDocument/2006/relationships" id="263" r:id="Ra33efa6b85254c60"/>
    <p:sldId xmlns:r="http://schemas.openxmlformats.org/officeDocument/2006/relationships" id="264" r:id="R6c99c7e4a2724e2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d0bc389dc4a4524" /><Relationship Type="http://schemas.openxmlformats.org/officeDocument/2006/relationships/slideMaster" Target="/ppt/slideMasters/slideMaster1.xml" Id="R83121ce0ecb6459e" /><Relationship Type="http://schemas.openxmlformats.org/officeDocument/2006/relationships/notesMaster" Target="/ppt/notesMasters/notesMaster1.xml" Id="R9186adc908724a53" /><Relationship Type="http://schemas.openxmlformats.org/officeDocument/2006/relationships/presProps" Target="/ppt/presProps.xml" Id="Ref4934b691824241" /><Relationship Type="http://schemas.openxmlformats.org/officeDocument/2006/relationships/tableStyles" Target="/ppt/tableStyles.xml" Id="Rc3ec715fe76c4212" /><Relationship Type="http://schemas.openxmlformats.org/officeDocument/2006/relationships/slide" Target="/ppt/slides/slide1.xml" Id="Ra1f9d11e75d842e4" /><Relationship Type="http://schemas.openxmlformats.org/officeDocument/2006/relationships/slide" Target="/ppt/slides/slide2.xml" Id="R6eb53221a2c945c2" /><Relationship Type="http://schemas.openxmlformats.org/officeDocument/2006/relationships/slide" Target="/ppt/slides/slide3.xml" Id="R9fa3821b65724411" /><Relationship Type="http://schemas.openxmlformats.org/officeDocument/2006/relationships/slide" Target="/ppt/slides/slide4.xml" Id="Rb888af70364b4d3d" /><Relationship Type="http://schemas.openxmlformats.org/officeDocument/2006/relationships/slide" Target="/ppt/slides/slide5.xml" Id="R12aacfe2332044c4" /><Relationship Type="http://schemas.openxmlformats.org/officeDocument/2006/relationships/slide" Target="/ppt/slides/slide6.xml" Id="Raf72402f2e454108" /><Relationship Type="http://schemas.openxmlformats.org/officeDocument/2006/relationships/slide" Target="/ppt/slides/slide7.xml" Id="R0ba2746c529e4aa2" /><Relationship Type="http://schemas.openxmlformats.org/officeDocument/2006/relationships/slide" Target="/ppt/slides/slide8.xml" Id="Ra33efa6b85254c60" /><Relationship Type="http://schemas.openxmlformats.org/officeDocument/2006/relationships/slide" Target="/ppt/slides/slide9.xml" Id="R6c99c7e4a2724e2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c86282de29c4be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861e36680b84e0f" /><Relationship Type="http://schemas.openxmlformats.org/officeDocument/2006/relationships/notesMaster" Target="/ppt/notesMasters/notesMaster1.xml" Id="Re9e74c8fc01b40f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5713475b9094bc9" /><Relationship Type="http://schemas.openxmlformats.org/officeDocument/2006/relationships/notesMaster" Target="/ppt/notesMasters/notesMaster1.xml" Id="R41a3e63b4b794c2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00d39316dd64f34" /><Relationship Type="http://schemas.openxmlformats.org/officeDocument/2006/relationships/notesMaster" Target="/ppt/notesMasters/notesMaster1.xml" Id="R19f2abe064cb4bb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b594e79212f4482" /><Relationship Type="http://schemas.openxmlformats.org/officeDocument/2006/relationships/notesMaster" Target="/ppt/notesMasters/notesMaster1.xml" Id="R248a2593a3774cc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08a520e5b1d42e8" /><Relationship Type="http://schemas.openxmlformats.org/officeDocument/2006/relationships/notesMaster" Target="/ppt/notesMasters/notesMaster1.xml" Id="Rd4202307d3a5447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c1477f6cc6a4366" /><Relationship Type="http://schemas.openxmlformats.org/officeDocument/2006/relationships/notesMaster" Target="/ppt/notesMasters/notesMaster1.xml" Id="Rf3de4584bf9c452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5cdac72d0bf4ded" /><Relationship Type="http://schemas.openxmlformats.org/officeDocument/2006/relationships/notesMaster" Target="/ppt/notesMasters/notesMaster1.xml" Id="R009a5cc308c14f1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c16102e16ba47e4" /><Relationship Type="http://schemas.openxmlformats.org/officeDocument/2006/relationships/notesMaster" Target="/ppt/notesMasters/notesMaster1.xml" Id="R15d22ab75b69474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2b6f5dd3d67489f" /><Relationship Type="http://schemas.openxmlformats.org/officeDocument/2006/relationships/notesMaster" Target="/ppt/notesMasters/notesMaster1.xml" Id="Rf59aa4575053495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封面背景采用可编辑的机柜风格原生图形；非真实攻击现场照片。项目名称 Aegis。叙事核心：受控红蓝对抗、受门禁约束的修补、二分类 JEV 判官以及人工复核后的持续改进。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讲稿：我们的目标是把安全对抗变成可持续改进的循环。红方产生真实交换，JEV 与蓝方规则独立判读，蓝方模型提出受门禁约束的代码修补；攻击回放与业务测试决定代码是否真的改好了。复测数据、误报和攻击样本再经过人工复核与家族级切分，成为下一版 JEV 的材料。代码修补反馈已闭环；历史 v3 训练、评估和部署已完成；本轮新材料到下一版权重的反馈仍待人审和训练。JEV 本身是二分类器，不承担主动漏洞搜索、漏洞类别识别或业务风险评级。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来源：OpenAI, “OpenAI and Hugging Face partner to address security incident during model evaluation”, https://openai.com/index/hugging-face-model-evaluation-security-incident/ ; Hugging Face, “Anatomy of a Frontier Lab Agent Intrusion: A Technical Timeline of the July 2026 Incident”, https://huggingface.co/blog/agent-intrusion-technical-timeline . 讲述时强调这是内部评测中 agent 越过隔离边界的安全事件，不要说成 OpenAI 主动攻击 Hugging Face。HF 技术时间线称仅有五个名称指向 ExploitGym/CyberGym 的数据集被访问，未发现其他客户向资产受影响。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业务情境为项目设计示例，用来说明保险机构在敏感数据与连续性方面的高要求。不暗示特定保险公司已发生事件，也不构成监管合规结论。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架构口径：用户从 /demo 启动请求，FastAPI 建立运行并交由 DemoCase 按阶段编排；事件写入统一 run 台账。技能包提供可复用 CLI 工作流，不要说当前主演示由 Skills 自主驱动。DGX Spark 上本地 Qwen 提供 patch；JEV v3 服务在 Spark GB10；StepFun 只接收 patch diff 做异构复核，不能说全链路零出域。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真实证据：run-20260927-140612-399b。seq 7 攻击触发合成 edu-lite 靶场标记；seq 18 diff_bounds / backdoor / llm_hetero 三关 PASS；seq 20 部署候选 hash 与已审候选一致；seq 36 blocked=true、marker_hit=false、network_error=false、replay_hit=0/replay_total=2、business_pass=true、11 项 functional tests passed；seq 40 restored；seq 41 succeeded。此页截图来自同一 run 的只读回放；LIVE 原片与 REPLAY 镜头分开呈现。证据对应 docs/video-script.md 和 workspace/video/raw 记录。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数据来源 dataset/judge_v3_mix/stats.json：train 17,403、holdout 4,244、family cross-split overlap=0。v3 基于历史 edu-lite 与外部 DVWA/hack-skills 域材料训练，不能说由当前这次 live run 训练产生。当前主 run 的 learning.queued=5 是一般学习队列；独立 C run 的 JEV 候选采集是另一条队列，不将两者混称一份新训练卷。当前只展示材料回流与审核路径，下一版权重尚未训练。主要代码修补验证见 run-20260927-140612-399b seq 36。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数字来源：dataset/judge_v3_mix/stats.json（17,403 条 train，4,244 holdout，family split train 5,390 / holdout 1,415，跨切分重叠 0，B family overlap 0）；holdout 指标由 bench/results/three_arm/v3_by_domain.json 与 claims/evaluation artifacts 核对；B 卷数字 bench/train/results/d7_b/v3_eval_b_clean.json（n=7,266, acc 0.9992, precision 0.9987, recall 1.0, abstain 0）。Spark 推理指标 bench/results/judge_latency/spark_v3_single_shot.json（NVIDIA GB10, batch=1, median 80.8 ms, p95 118.5 ms, 12.17/s）。RTX 5090 用于训练，DGX Spark GB10 用于推理。B 卷只证明旧域相同请求形态下的新实例/响应表现，不代表真正新形态攻击泛化。主运行在线流曾有 3 条正常 /login 被判为攻击，展示中如被问应正面说明。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Skills 目录含 aegis-hunt / aegis-evolve / aegis-self-repair / aegis-jevtrain。aegis-evolve 的职责是审核 POC 候选、写回经验库、为下一轮检索复用；修补编排属于 self-repair。新技能连续实跑 run-20260928-155647-3290：实际 selftest/start/status/verdict CLI 与实时大屏同屏，verified_restored，17/17 proof flags true，patch_mode=llm_guided，攻击复测 0/2，11 项业务测试通过。新片 44.233 秒，等待段 4 倍加速并明示。红方 21→3 为同一已知目标的人审库复用，不能据此声称新目标泛化；两次 hunting 原始记录已随包交付。陌生 agent 对 jevtrain 的独立验收仍是已知缺口，避免称所有技能都已外部验收。跨靶证据是单独的 C 工作副本，不是主 run 的组成部分：docs/worklog 与独立 run-20260927-103447-1026、hunting artifacts 记录。C 靶清理时封存内容恢复，但逐字节 hash 有换行差异，故不声称 exact-byte restore。下一步方向均为待完成事项。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6caa99b8b43435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e4c264201964328" /><Relationship Type="http://schemas.openxmlformats.org/officeDocument/2006/relationships/slideLayout" Target="/ppt/slideLayouts/slideLayout1.xml" Id="R77be0486981c4bd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7be0486981c4bd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e8da0462494e56" /><Relationship Type="http://schemas.openxmlformats.org/officeDocument/2006/relationships/notesSlide" Target="/ppt/notesSlides/notesSlide1.xml" Id="R49431ef5f66e453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6c939bae4e4b38" /><Relationship Type="http://schemas.openxmlformats.org/officeDocument/2006/relationships/notesSlide" Target="/ppt/notesSlides/notesSlide2.xml" Id="Rff9a2feedecd4b2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a2bb2991cc409e" /><Relationship Type="http://schemas.openxmlformats.org/officeDocument/2006/relationships/notesSlide" Target="/ppt/notesSlides/notesSlide3.xml" Id="R24a8f98736264af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91b6b6404a47df" /><Relationship Type="http://schemas.openxmlformats.org/officeDocument/2006/relationships/notesSlide" Target="/ppt/notesSlides/notesSlide4.xml" Id="R7cdb8c8f72044f5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a219931941499c" /><Relationship Type="http://schemas.openxmlformats.org/officeDocument/2006/relationships/notesSlide" Target="/ppt/notesSlides/notesSlide5.xml" Id="Rdd058430a1f4451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500db9040e488d" /><Relationship Type="http://schemas.openxmlformats.org/officeDocument/2006/relationships/image" Target="/ppt/media/image.png" Id="Re9cd74d934e24481" /><Relationship Type="http://schemas.openxmlformats.org/officeDocument/2006/relationships/notesSlide" Target="/ppt/notesSlides/notesSlide6.xml" Id="Rb8bc12fd2f0342a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27bbe9ae7345a3" /><Relationship Type="http://schemas.openxmlformats.org/officeDocument/2006/relationships/notesSlide" Target="/ppt/notesSlides/notesSlide7.xml" Id="Re8817e760a4f41b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1dcbbca495146cf" /><Relationship Type="http://schemas.openxmlformats.org/officeDocument/2006/relationships/image" Target="/ppt/media/image2.png" Id="R3e3861a297e3403d" /><Relationship Type="http://schemas.openxmlformats.org/officeDocument/2006/relationships/notesSlide" Target="/ppt/notesSlides/notesSlide8.xml" Id="Ra4433d055f96444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f8f906f7624f3d" /><Relationship Type="http://schemas.openxmlformats.org/officeDocument/2006/relationships/notesSlide" Target="/ppt/notesSlides/notesSlide9.xml" Id="Rc98766a9df184de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8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9" name="">
            <a:extLst xmlns:a="http://schemas.openxmlformats.org/drawingml/2006/main">
              <a:ext uri="{FF2B5EF4-FFF2-40B4-BE49-F238E27FC236}">
                <a16:creationId xmlns:a16="http://schemas.microsoft.com/office/drawing/2014/main" id="{5F74F7D4-974A-4983-B773-266C971CB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659FCE-5152-4A38-A92A-402F94A48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571500"/>
            <a:ext cx="400050" cy="5619750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1B3A55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B3A3C64-B589-457D-BF3F-00CAFA859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4675" y="762000"/>
            <a:ext cx="266700" cy="419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72F47"/>
          </a:solidFill>
          <a:ln xmlns:a="http://schemas.openxmlformats.org/drawingml/2006/main" w="9525">
            <a:solidFill>
              <a:srgbClr val="244861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73DC1F-A53C-4BF6-BD0C-6331A7178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8477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9D8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17DB79-5F12-4143-8399-035D84065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4675" y="1409700"/>
            <a:ext cx="266700" cy="419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72F47"/>
          </a:solidFill>
          <a:ln xmlns:a="http://schemas.openxmlformats.org/drawingml/2006/main" w="9525">
            <a:solidFill>
              <a:srgbClr val="244861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B4640A-E47A-4A27-B222-15349FA11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14954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262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7C086DD-5C6A-4742-AE0C-1A867E862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4675" y="2057400"/>
            <a:ext cx="266700" cy="419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72F47"/>
          </a:solidFill>
          <a:ln xmlns:a="http://schemas.openxmlformats.org/drawingml/2006/main" w="9525">
            <a:solidFill>
              <a:srgbClr val="244861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C79C9D9-638D-4485-A281-87D983493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21431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262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DB3085B-62B6-4BA1-A96E-625EDF655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4675" y="2705100"/>
            <a:ext cx="266700" cy="419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72F47"/>
          </a:solidFill>
          <a:ln xmlns:a="http://schemas.openxmlformats.org/drawingml/2006/main" w="9525">
            <a:solidFill>
              <a:srgbClr val="244861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1668DA0-08F1-460E-AC31-0F1F734C3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27908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9D8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1EF0B27-C8AC-4E9B-8179-902B7F7D9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4675" y="3352800"/>
            <a:ext cx="266700" cy="419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72F47"/>
          </a:solidFill>
          <a:ln xmlns:a="http://schemas.openxmlformats.org/drawingml/2006/main" w="9525">
            <a:solidFill>
              <a:srgbClr val="244861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7020726-34C0-4825-AD3E-E033C8962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34385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262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74B9773-842F-4BBA-9F2C-191CB6ADC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4675" y="4000500"/>
            <a:ext cx="266700" cy="419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72F47"/>
          </a:solidFill>
          <a:ln xmlns:a="http://schemas.openxmlformats.org/drawingml/2006/main" w="9525">
            <a:solidFill>
              <a:srgbClr val="244861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142BF16-6BAE-485C-9B7E-B3CC62062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40862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262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885B341-0797-47E7-ABFA-B64406F21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4675" y="4648200"/>
            <a:ext cx="266700" cy="419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72F47"/>
          </a:solidFill>
          <a:ln xmlns:a="http://schemas.openxmlformats.org/drawingml/2006/main" w="9525">
            <a:solidFill>
              <a:srgbClr val="244861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6087B24-97A1-4506-9CC4-8E7FCF404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47339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9D8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3C099AE-044E-437E-8D83-8C85F30FD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4675" y="5295900"/>
            <a:ext cx="266700" cy="419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72F47"/>
          </a:solidFill>
          <a:ln xmlns:a="http://schemas.openxmlformats.org/drawingml/2006/main" w="9525">
            <a:solidFill>
              <a:srgbClr val="244861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7C80069-D416-4110-BD0B-F90D8DD26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53816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262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FF2DDEF-C912-4EF1-93EC-5D52EAB5E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571500"/>
            <a:ext cx="400050" cy="5619750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1B3A55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6255BE8-4794-454D-B1DA-CBD98EADA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762000"/>
            <a:ext cx="266700" cy="419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72F47"/>
          </a:solidFill>
          <a:ln xmlns:a="http://schemas.openxmlformats.org/drawingml/2006/main" w="9525">
            <a:solidFill>
              <a:srgbClr val="244861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158170E-D30A-4438-A9B5-0E02FBA45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8477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9D8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00670B3-A33B-41F1-94AB-C9EC03AAF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409700"/>
            <a:ext cx="266700" cy="419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72F47"/>
          </a:solidFill>
          <a:ln xmlns:a="http://schemas.openxmlformats.org/drawingml/2006/main" w="9525">
            <a:solidFill>
              <a:srgbClr val="244861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363DD99-C63C-4EFC-9E59-E09D2C047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14954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262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15EA0E3-1FCB-41DB-9A9F-5740EC1E7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57400"/>
            <a:ext cx="266700" cy="419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72F47"/>
          </a:solidFill>
          <a:ln xmlns:a="http://schemas.openxmlformats.org/drawingml/2006/main" w="9525">
            <a:solidFill>
              <a:srgbClr val="244861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6CFAF3E-A0AC-498D-A1C1-558C35E5E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21431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262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400CA9E-8194-4C7D-896E-3F68685CE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705100"/>
            <a:ext cx="266700" cy="419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72F47"/>
          </a:solidFill>
          <a:ln xmlns:a="http://schemas.openxmlformats.org/drawingml/2006/main" w="9525">
            <a:solidFill>
              <a:srgbClr val="244861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F55FDBB-11EF-46CF-B80F-70F5D7C68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27908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9D8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376A67E-9258-42F1-88A5-AA3BA98A0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52800"/>
            <a:ext cx="266700" cy="419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72F47"/>
          </a:solidFill>
          <a:ln xmlns:a="http://schemas.openxmlformats.org/drawingml/2006/main" w="9525">
            <a:solidFill>
              <a:srgbClr val="244861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AC5F753-F0C6-4B56-B0BB-9E9E47D52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34385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262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92A23B8-996E-4503-B128-6C2EAE128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000500"/>
            <a:ext cx="266700" cy="419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72F47"/>
          </a:solidFill>
          <a:ln xmlns:a="http://schemas.openxmlformats.org/drawingml/2006/main" w="9525">
            <a:solidFill>
              <a:srgbClr val="244861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49A5855-A02B-4644-918E-8733C8233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40862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262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D486958-31A0-4616-9282-1A93A9EEE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648200"/>
            <a:ext cx="266700" cy="419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72F47"/>
          </a:solidFill>
          <a:ln xmlns:a="http://schemas.openxmlformats.org/drawingml/2006/main" w="9525">
            <a:solidFill>
              <a:srgbClr val="244861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DEA5145-44EB-4238-8326-D64569595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47339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9D8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045012D-F793-4E9E-934E-846AAC858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295900"/>
            <a:ext cx="266700" cy="419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72F47"/>
          </a:solidFill>
          <a:ln xmlns:a="http://schemas.openxmlformats.org/drawingml/2006/main" w="9525">
            <a:solidFill>
              <a:srgbClr val="244861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3ECEC43-0001-4A36-B7F4-7E0BA061E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53816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262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0F43634-53E1-4198-B6C2-34CC20D26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571500"/>
            <a:ext cx="400050" cy="5619750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1B3A55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36263ED-EF0A-4B3B-840E-E7E799A16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762000"/>
            <a:ext cx="266700" cy="419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72F47"/>
          </a:solidFill>
          <a:ln xmlns:a="http://schemas.openxmlformats.org/drawingml/2006/main" w="9525">
            <a:solidFill>
              <a:srgbClr val="244861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08B0BC1-D498-4FD8-B8F4-205988B11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8477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9D8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AFC8599-3CF5-49C9-8270-2D16ED77D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1409700"/>
            <a:ext cx="266700" cy="419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72F47"/>
          </a:solidFill>
          <a:ln xmlns:a="http://schemas.openxmlformats.org/drawingml/2006/main" w="9525">
            <a:solidFill>
              <a:srgbClr val="244861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77AAE40-8DE4-4188-8918-88F11ACA0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4954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262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0DA6D0C-B2ED-4820-AC9F-59D1EA1E3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2057400"/>
            <a:ext cx="266700" cy="419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72F47"/>
          </a:solidFill>
          <a:ln xmlns:a="http://schemas.openxmlformats.org/drawingml/2006/main" w="9525">
            <a:solidFill>
              <a:srgbClr val="244861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6BDA33D-5F56-4129-A164-C42E049DD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1431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262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62C6DD2-69D4-4C92-B0C4-4C71160A2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2705100"/>
            <a:ext cx="266700" cy="419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72F47"/>
          </a:solidFill>
          <a:ln xmlns:a="http://schemas.openxmlformats.org/drawingml/2006/main" w="9525">
            <a:solidFill>
              <a:srgbClr val="244861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AE865F0-DCE4-4D9D-B6C1-96CE0E96A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7908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9D8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EE26655-6331-4E42-BE91-E8FD3AED1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3352800"/>
            <a:ext cx="266700" cy="419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72F47"/>
          </a:solidFill>
          <a:ln xmlns:a="http://schemas.openxmlformats.org/drawingml/2006/main" w="9525">
            <a:solidFill>
              <a:srgbClr val="244861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15732947-EA28-4C6C-8161-198723A53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34385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262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A4AC2146-1F37-42CF-86BE-4C31366F2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000500"/>
            <a:ext cx="266700" cy="419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72F47"/>
          </a:solidFill>
          <a:ln xmlns:a="http://schemas.openxmlformats.org/drawingml/2006/main" w="9525">
            <a:solidFill>
              <a:srgbClr val="244861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08A95A16-823D-4488-97E7-6BC6669F3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40862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262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6843B645-5CD3-4A70-81C4-2C6635A7F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648200"/>
            <a:ext cx="266700" cy="419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72F47"/>
          </a:solidFill>
          <a:ln xmlns:a="http://schemas.openxmlformats.org/drawingml/2006/main" w="9525">
            <a:solidFill>
              <a:srgbClr val="244861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2B01F1E6-BC19-4ED1-9A8F-C19D71544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47339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9D8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8D2016BB-79A0-4BBA-BD9F-65A60B737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5295900"/>
            <a:ext cx="266700" cy="419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72F47"/>
          </a:solidFill>
          <a:ln xmlns:a="http://schemas.openxmlformats.org/drawingml/2006/main" w="9525">
            <a:solidFill>
              <a:srgbClr val="244861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16E7B14C-C709-4BD8-9EB4-C8E96C919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53816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262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DF5F0AC4-5C0F-4611-BABF-A912051ED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571500"/>
            <a:ext cx="400050" cy="5619750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1B3A55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9F36A548-0115-42B8-AD90-E9F38CA2F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762000"/>
            <a:ext cx="266700" cy="419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72F47"/>
          </a:solidFill>
          <a:ln xmlns:a="http://schemas.openxmlformats.org/drawingml/2006/main" w="9525">
            <a:solidFill>
              <a:srgbClr val="244861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C18F57AF-D791-4D0D-A53C-C22E6EBEE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8477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9D8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6A08E2C4-F45D-44A6-A014-6649318B2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1409700"/>
            <a:ext cx="266700" cy="419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72F47"/>
          </a:solidFill>
          <a:ln xmlns:a="http://schemas.openxmlformats.org/drawingml/2006/main" w="9525">
            <a:solidFill>
              <a:srgbClr val="244861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5D7F6B33-E5E3-491D-BBE1-8048FC44C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14954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262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43D29835-012E-48B9-AE6B-59EA06D8F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2057400"/>
            <a:ext cx="266700" cy="419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72F47"/>
          </a:solidFill>
          <a:ln xmlns:a="http://schemas.openxmlformats.org/drawingml/2006/main" w="9525">
            <a:solidFill>
              <a:srgbClr val="244861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DC186FDA-8E65-4FD8-ABD2-B44BDA074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21431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262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66764CB5-AD48-4F63-BA18-FFDF41711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2705100"/>
            <a:ext cx="266700" cy="419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72F47"/>
          </a:solidFill>
          <a:ln xmlns:a="http://schemas.openxmlformats.org/drawingml/2006/main" w="9525">
            <a:solidFill>
              <a:srgbClr val="244861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5E49CFAC-E608-4B68-893D-4165C7817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27908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9D8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C9962DEB-E92A-4794-907D-68A7687F8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3352800"/>
            <a:ext cx="266700" cy="419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72F47"/>
          </a:solidFill>
          <a:ln xmlns:a="http://schemas.openxmlformats.org/drawingml/2006/main" w="9525">
            <a:solidFill>
              <a:srgbClr val="244861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DBEB4908-584F-4389-998C-693DDC1DD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34385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262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AEBA6C57-F5F6-4FCB-A221-77B066393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4000500"/>
            <a:ext cx="266700" cy="419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72F47"/>
          </a:solidFill>
          <a:ln xmlns:a="http://schemas.openxmlformats.org/drawingml/2006/main" w="9525">
            <a:solidFill>
              <a:srgbClr val="244861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749B16F2-3246-47A4-B5CF-105FBE296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40862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262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B46D7F9C-94F9-44CF-9A0E-271528EBC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4648200"/>
            <a:ext cx="266700" cy="419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72F47"/>
          </a:solidFill>
          <a:ln xmlns:a="http://schemas.openxmlformats.org/drawingml/2006/main" w="9525">
            <a:solidFill>
              <a:srgbClr val="244861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A3DF69ED-FC11-477B-9B87-B34CB5ECD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47339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9D8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0883B719-13F6-43AD-9330-75858AD21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5295900"/>
            <a:ext cx="266700" cy="419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72F47"/>
          </a:solidFill>
          <a:ln xmlns:a="http://schemas.openxmlformats.org/drawingml/2006/main" w="9525">
            <a:solidFill>
              <a:srgbClr val="244861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DBDA54D3-A0B8-4F20-A405-734D1AE09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53816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262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EB150EA6-4AEB-4F72-972F-781CC5C69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571500"/>
            <a:ext cx="400050" cy="5619750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1B3A55"/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40438D4F-D7AA-478B-A099-50AEBF532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39275" y="762000"/>
            <a:ext cx="266700" cy="419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72F47"/>
          </a:solidFill>
          <a:ln xmlns:a="http://schemas.openxmlformats.org/drawingml/2006/main" w="9525">
            <a:solidFill>
              <a:srgbClr val="244861"/>
            </a:solidFill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4E132453-6ADD-4303-9382-25E72D8B9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6425" y="8477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9D8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55C437B1-04D9-4290-B39E-BD3568236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39275" y="1409700"/>
            <a:ext cx="266700" cy="419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72F47"/>
          </a:solidFill>
          <a:ln xmlns:a="http://schemas.openxmlformats.org/drawingml/2006/main" w="9525">
            <a:solidFill>
              <a:srgbClr val="244861"/>
            </a:solidFill>
            <a:prstDash val="solid"/>
          </a:ln>
        </p:spPr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FCBEC929-C2E4-4D4A-9227-9BA9484B8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6425" y="14954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262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C9ABA304-274D-47E3-ADCA-EB7050413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39275" y="2057400"/>
            <a:ext cx="266700" cy="419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72F47"/>
          </a:solidFill>
          <a:ln xmlns:a="http://schemas.openxmlformats.org/drawingml/2006/main" w="9525">
            <a:solidFill>
              <a:srgbClr val="244861"/>
            </a:solidFill>
            <a:prstDash val="solid"/>
          </a:ln>
        </p:spPr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C21FCCA1-ECC9-4C55-A16D-C5AB1BC9E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6425" y="21431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262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93EF4F3C-10D7-4A2F-942D-3D94CA0EB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39275" y="2705100"/>
            <a:ext cx="266700" cy="419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72F47"/>
          </a:solidFill>
          <a:ln xmlns:a="http://schemas.openxmlformats.org/drawingml/2006/main" w="9525">
            <a:solidFill>
              <a:srgbClr val="244861"/>
            </a:solidFill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FBABF439-FE06-45DC-9B4A-14D2181FC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6425" y="27908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9D8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99EF7E76-1A3C-4BC8-900E-8BF311BC7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39275" y="3352800"/>
            <a:ext cx="266700" cy="419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72F47"/>
          </a:solidFill>
          <a:ln xmlns:a="http://schemas.openxmlformats.org/drawingml/2006/main" w="9525">
            <a:solidFill>
              <a:srgbClr val="244861"/>
            </a:solidFill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CE9E38F2-24A3-4973-AEB8-009B52073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6425" y="34385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262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6331A556-3059-48CC-B0FE-5FB43B582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39275" y="4000500"/>
            <a:ext cx="266700" cy="419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72F47"/>
          </a:solidFill>
          <a:ln xmlns:a="http://schemas.openxmlformats.org/drawingml/2006/main" w="9525">
            <a:solidFill>
              <a:srgbClr val="244861"/>
            </a:solidFill>
            <a:prstDash val="solid"/>
          </a:ln>
        </p:spPr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7E5F428C-7D16-495E-B9EC-48ED74F2A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6425" y="40862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262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3D69BFA8-0481-45B8-9987-A7F98423A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39275" y="4648200"/>
            <a:ext cx="266700" cy="419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72F47"/>
          </a:solidFill>
          <a:ln xmlns:a="http://schemas.openxmlformats.org/drawingml/2006/main" w="9525">
            <a:solidFill>
              <a:srgbClr val="244861"/>
            </a:solidFill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61E7123D-83E7-4771-9CB3-C041A7E97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6425" y="47339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9D8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BFBF0098-3CBE-485D-81B6-00030488E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39275" y="5295900"/>
            <a:ext cx="266700" cy="419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72F47"/>
          </a:solidFill>
          <a:ln xmlns:a="http://schemas.openxmlformats.org/drawingml/2006/main" w="9525">
            <a:solidFill>
              <a:srgbClr val="244861"/>
            </a:solidFill>
            <a:prstDash val="solid"/>
          </a:ln>
        </p:spPr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6E20C950-C0ED-44D3-B417-3110F22AB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6425" y="53816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262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9B15A7E4-2A34-4207-AC87-0EE9ED71D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571500"/>
            <a:ext cx="400050" cy="5619750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1B3A55"/>
            </a:solidFill>
            <a:prstDash val="solid"/>
          </a:ln>
        </p:spPr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BE3E4A03-089A-4960-A905-54C8AB427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7925" y="762000"/>
            <a:ext cx="266700" cy="419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72F47"/>
          </a:solidFill>
          <a:ln xmlns:a="http://schemas.openxmlformats.org/drawingml/2006/main" w="9525">
            <a:solidFill>
              <a:srgbClr val="244861"/>
            </a:solidFill>
            <a:prstDash val="solid"/>
          </a:ln>
        </p:spPr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F09634AD-70C1-4173-A71D-9D8E005F4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5075" y="8477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9D8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B1BA43DA-EC3A-40FD-8783-5333AB8D9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7925" y="1409700"/>
            <a:ext cx="266700" cy="419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72F47"/>
          </a:solidFill>
          <a:ln xmlns:a="http://schemas.openxmlformats.org/drawingml/2006/main" w="9525">
            <a:solidFill>
              <a:srgbClr val="244861"/>
            </a:solidFill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A874ED45-19E9-410B-B729-9718D889C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5075" y="14954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262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60DA1618-7590-44F2-AEBC-9F58696AA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7925" y="2057400"/>
            <a:ext cx="266700" cy="419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72F47"/>
          </a:solidFill>
          <a:ln xmlns:a="http://schemas.openxmlformats.org/drawingml/2006/main" w="9525">
            <a:solidFill>
              <a:srgbClr val="244861"/>
            </a:solidFill>
            <a:prstDash val="solid"/>
          </a:ln>
        </p:spPr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DB05E36F-BC22-43D2-B797-FFB498BEE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5075" y="21431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262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B95E2B9C-1BFC-4DC9-A5FF-A9D8F6A9A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7925" y="2705100"/>
            <a:ext cx="266700" cy="419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72F47"/>
          </a:solidFill>
          <a:ln xmlns:a="http://schemas.openxmlformats.org/drawingml/2006/main" w="9525">
            <a:solidFill>
              <a:srgbClr val="244861"/>
            </a:solidFill>
            <a:prstDash val="solid"/>
          </a:ln>
        </p:spPr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5ECB945C-DA7A-42E1-A09B-B9303108E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5075" y="27908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9D8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41D08D09-AFC1-4018-8390-DAFCEAA4B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7925" y="3352800"/>
            <a:ext cx="266700" cy="419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72F47"/>
          </a:solidFill>
          <a:ln xmlns:a="http://schemas.openxmlformats.org/drawingml/2006/main" w="9525">
            <a:solidFill>
              <a:srgbClr val="244861"/>
            </a:solidFill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C6AEF467-E0C1-4ED6-933D-5ACC03D02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5075" y="34385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262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D73A79DC-BFB3-4ABC-B2C2-07892EABA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7925" y="4000500"/>
            <a:ext cx="266700" cy="419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72F47"/>
          </a:solidFill>
          <a:ln xmlns:a="http://schemas.openxmlformats.org/drawingml/2006/main" w="9525">
            <a:solidFill>
              <a:srgbClr val="244861"/>
            </a:solidFill>
            <a:prstDash val="solid"/>
          </a:ln>
        </p:spPr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C41CE922-57D4-4264-9D43-44A71C56B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5075" y="40862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262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19000239-80F5-4087-A034-6F0854C4C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7925" y="4648200"/>
            <a:ext cx="266700" cy="419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72F47"/>
          </a:solidFill>
          <a:ln xmlns:a="http://schemas.openxmlformats.org/drawingml/2006/main" w="9525">
            <a:solidFill>
              <a:srgbClr val="244861"/>
            </a:solidFill>
            <a:prstDash val="solid"/>
          </a:ln>
        </p:spPr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A5A86723-9DD7-40C4-9CBC-2216F2AE5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5075" y="47339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9D8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95A825E4-DCEA-4B06-AE72-19641E33F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7925" y="5295900"/>
            <a:ext cx="266700" cy="419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72F47"/>
          </a:solidFill>
          <a:ln xmlns:a="http://schemas.openxmlformats.org/drawingml/2006/main" w="9525">
            <a:solidFill>
              <a:srgbClr val="244861"/>
            </a:solidFill>
            <a:prstDash val="solid"/>
          </a:ln>
        </p:spPr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13BA4A5C-05F3-4AE7-A19D-0A5FF00AD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5075" y="53816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262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1299069D-004F-490E-B6AF-5965DEBAB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571500"/>
            <a:ext cx="400050" cy="5619750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1B3A55"/>
            </a:solidFill>
            <a:prstDash val="solid"/>
          </a:ln>
        </p:spPr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858EE217-835B-4663-ADC6-4E42AF00C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96575" y="762000"/>
            <a:ext cx="266700" cy="419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72F47"/>
          </a:solidFill>
          <a:ln xmlns:a="http://schemas.openxmlformats.org/drawingml/2006/main" w="9525">
            <a:solidFill>
              <a:srgbClr val="244861"/>
            </a:solidFill>
            <a:prstDash val="solid"/>
          </a:ln>
        </p:spPr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C75A540C-6CEF-41D2-81D0-363EFA473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53725" y="8477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9D8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8CDB485F-E14A-4353-BC38-D2732DDF9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96575" y="1409700"/>
            <a:ext cx="266700" cy="419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72F47"/>
          </a:solidFill>
          <a:ln xmlns:a="http://schemas.openxmlformats.org/drawingml/2006/main" w="9525">
            <a:solidFill>
              <a:srgbClr val="244861"/>
            </a:solidFill>
            <a:prstDash val="solid"/>
          </a:ln>
        </p:spPr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CEB3E01E-8747-44D9-B253-64BA226E6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53725" y="14954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262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3A5D6760-B36A-4399-A3C0-FD5217836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96575" y="2057400"/>
            <a:ext cx="266700" cy="419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72F47"/>
          </a:solidFill>
          <a:ln xmlns:a="http://schemas.openxmlformats.org/drawingml/2006/main" w="9525">
            <a:solidFill>
              <a:srgbClr val="244861"/>
            </a:solidFill>
            <a:prstDash val="solid"/>
          </a:ln>
        </p:spPr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F7B02A5C-2782-44FB-B305-E24BE0F93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53725" y="21431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262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A05F35BC-A760-4D32-B4DD-CB3C8162F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96575" y="2705100"/>
            <a:ext cx="266700" cy="419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72F47"/>
          </a:solidFill>
          <a:ln xmlns:a="http://schemas.openxmlformats.org/drawingml/2006/main" w="9525">
            <a:solidFill>
              <a:srgbClr val="244861"/>
            </a:solidFill>
            <a:prstDash val="solid"/>
          </a:ln>
        </p:spPr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DD634E5B-2E7C-4BCF-A6B7-07C4B050F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53725" y="27908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9D8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7BE828BD-B16F-4EED-AB83-81E6CF0AB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96575" y="3352800"/>
            <a:ext cx="266700" cy="419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72F47"/>
          </a:solidFill>
          <a:ln xmlns:a="http://schemas.openxmlformats.org/drawingml/2006/main" w="9525">
            <a:solidFill>
              <a:srgbClr val="244861"/>
            </a:solidFill>
            <a:prstDash val="solid"/>
          </a:ln>
        </p:spPr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D0ED6E0B-3D6C-4C0C-A537-06B6A9E95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53725" y="34385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262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1AE14950-4C93-4C6D-835E-B52C8BB1D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96575" y="4000500"/>
            <a:ext cx="266700" cy="419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72F47"/>
          </a:solidFill>
          <a:ln xmlns:a="http://schemas.openxmlformats.org/drawingml/2006/main" w="9525">
            <a:solidFill>
              <a:srgbClr val="244861"/>
            </a:solidFill>
            <a:prstDash val="solid"/>
          </a:ln>
        </p:spPr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074660FE-20D0-4033-83E0-A52CE3845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53725" y="40862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262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DC854CC7-221B-4EE0-886A-ED3BB98F1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96575" y="4648200"/>
            <a:ext cx="266700" cy="419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72F47"/>
          </a:solidFill>
          <a:ln xmlns:a="http://schemas.openxmlformats.org/drawingml/2006/main" w="9525">
            <a:solidFill>
              <a:srgbClr val="244861"/>
            </a:solidFill>
            <a:prstDash val="solid"/>
          </a:ln>
        </p:spPr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8273C428-BBBA-4D75-9E82-69D605534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53725" y="47339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9D8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A394CFA1-BEC0-4300-89F6-E7A4F6BEA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96575" y="5295900"/>
            <a:ext cx="266700" cy="419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72F47"/>
          </a:solidFill>
          <a:ln xmlns:a="http://schemas.openxmlformats.org/drawingml/2006/main" w="9525">
            <a:solidFill>
              <a:srgbClr val="244861"/>
            </a:solidFill>
            <a:prstDash val="solid"/>
          </a:ln>
        </p:spPr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EA94E194-CFA3-441D-9A75-E42A4F0AB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53725" y="53816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262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145C11E2-0357-4268-9E90-712C88069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571500"/>
            <a:ext cx="400050" cy="5619750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1B3A55"/>
            </a:solidFill>
            <a:prstDash val="solid"/>
          </a:ln>
        </p:spPr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DB5927F0-E2C5-4D0E-8AEB-FD1C33017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25225" y="762000"/>
            <a:ext cx="266700" cy="419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72F47"/>
          </a:solidFill>
          <a:ln xmlns:a="http://schemas.openxmlformats.org/drawingml/2006/main" w="9525">
            <a:solidFill>
              <a:srgbClr val="244861"/>
            </a:solidFill>
            <a:prstDash val="solid"/>
          </a:ln>
        </p:spPr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99B2FD02-0BA0-419F-9EF1-AC691A423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2375" y="8477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9D8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701BC59C-8516-446D-B5A6-F01B62E67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25225" y="1409700"/>
            <a:ext cx="266700" cy="419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72F47"/>
          </a:solidFill>
          <a:ln xmlns:a="http://schemas.openxmlformats.org/drawingml/2006/main" w="9525">
            <a:solidFill>
              <a:srgbClr val="244861"/>
            </a:solidFill>
            <a:prstDash val="solid"/>
          </a:ln>
        </p:spPr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2432CBC0-AC4C-4661-8FE2-0CA3D3968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2375" y="14954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262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4383D5F9-3EA0-4CB5-8AC5-62836C9BF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25225" y="2057400"/>
            <a:ext cx="266700" cy="419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72F47"/>
          </a:solidFill>
          <a:ln xmlns:a="http://schemas.openxmlformats.org/drawingml/2006/main" w="9525">
            <a:solidFill>
              <a:srgbClr val="244861"/>
            </a:solidFill>
            <a:prstDash val="solid"/>
          </a:ln>
        </p:spPr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258860BC-8E87-4282-8868-DA5E6592A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2375" y="21431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262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9389E51C-6A28-4D89-A746-DE01C3259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25225" y="2705100"/>
            <a:ext cx="266700" cy="419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72F47"/>
          </a:solidFill>
          <a:ln xmlns:a="http://schemas.openxmlformats.org/drawingml/2006/main" w="9525">
            <a:solidFill>
              <a:srgbClr val="244861"/>
            </a:solidFill>
            <a:prstDash val="solid"/>
          </a:ln>
        </p:spPr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359D64AB-4732-4D31-8AC1-79A66C811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2375" y="27908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9D8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84D6B626-2416-4FEE-A1EB-F07576754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25225" y="3352800"/>
            <a:ext cx="266700" cy="419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72F47"/>
          </a:solidFill>
          <a:ln xmlns:a="http://schemas.openxmlformats.org/drawingml/2006/main" w="9525">
            <a:solidFill>
              <a:srgbClr val="244861"/>
            </a:solidFill>
            <a:prstDash val="solid"/>
          </a:ln>
        </p:spPr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39C69946-7C3D-4A20-AD77-7052E384E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2375" y="34385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262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262F4735-C9C2-42C6-89F0-76EEE6042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25225" y="4000500"/>
            <a:ext cx="266700" cy="419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72F47"/>
          </a:solidFill>
          <a:ln xmlns:a="http://schemas.openxmlformats.org/drawingml/2006/main" w="9525">
            <a:solidFill>
              <a:srgbClr val="244861"/>
            </a:solidFill>
            <a:prstDash val="solid"/>
          </a:ln>
        </p:spPr>
      </p:sp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2C6FEC83-25F7-46AF-AFAD-2F2174EDF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2375" y="40862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262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4" name="">
            <a:extLst xmlns:a="http://schemas.openxmlformats.org/drawingml/2006/main">
              <a:ext uri="{FF2B5EF4-FFF2-40B4-BE49-F238E27FC236}">
                <a16:creationId xmlns:a16="http://schemas.microsoft.com/office/drawing/2014/main" id="{DADA3C0F-96B9-4EF2-ADF5-D0A5A1B27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25225" y="4648200"/>
            <a:ext cx="266700" cy="419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72F47"/>
          </a:solidFill>
          <a:ln xmlns:a="http://schemas.openxmlformats.org/drawingml/2006/main" w="9525">
            <a:solidFill>
              <a:srgbClr val="244861"/>
            </a:solidFill>
            <a:prstDash val="solid"/>
          </a:ln>
        </p:spPr>
      </p:sp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7CB6B378-6FC8-4669-8696-558F960F9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2375" y="47339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9D8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6" name="">
            <a:extLst xmlns:a="http://schemas.openxmlformats.org/drawingml/2006/main">
              <a:ext uri="{FF2B5EF4-FFF2-40B4-BE49-F238E27FC236}">
                <a16:creationId xmlns:a16="http://schemas.microsoft.com/office/drawing/2014/main" id="{32D6AE67-B112-48FB-8191-41570FDA9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25225" y="5295900"/>
            <a:ext cx="266700" cy="419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72F47"/>
          </a:solidFill>
          <a:ln xmlns:a="http://schemas.openxmlformats.org/drawingml/2006/main" w="9525">
            <a:solidFill>
              <a:srgbClr val="244861"/>
            </a:solidFill>
            <a:prstDash val="solid"/>
          </a:ln>
        </p:spPr>
      </p:sp>
      <p:sp>
        <p:nvSpPr>
          <p:cNvPr id="137" name="">
            <a:extLst xmlns:a="http://schemas.openxmlformats.org/drawingml/2006/main">
              <a:ext uri="{FF2B5EF4-FFF2-40B4-BE49-F238E27FC236}">
                <a16:creationId xmlns:a16="http://schemas.microsoft.com/office/drawing/2014/main" id="{56C69614-9DA0-481C-84A4-7AE363C55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2375" y="53816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262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8" name="">
            <a:extLst xmlns:a="http://schemas.openxmlformats.org/drawingml/2006/main">
              <a:ext uri="{FF2B5EF4-FFF2-40B4-BE49-F238E27FC236}">
                <a16:creationId xmlns:a16="http://schemas.microsoft.com/office/drawing/2014/main" id="{BB6C9333-006F-4355-AD86-CD08F678E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0" y="571500"/>
            <a:ext cx="400050" cy="5619750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1B3A55"/>
            </a:solidFill>
            <a:prstDash val="solid"/>
          </a:ln>
        </p:spPr>
      </p:sp>
      <p:sp>
        <p:nvSpPr>
          <p:cNvPr id="139" name="">
            <a:extLst xmlns:a="http://schemas.openxmlformats.org/drawingml/2006/main">
              <a:ext uri="{FF2B5EF4-FFF2-40B4-BE49-F238E27FC236}">
                <a16:creationId xmlns:a16="http://schemas.microsoft.com/office/drawing/2014/main" id="{633E00DC-203A-43BB-B6C7-F52B1FC92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53875" y="762000"/>
            <a:ext cx="266700" cy="419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72F47"/>
          </a:solidFill>
          <a:ln xmlns:a="http://schemas.openxmlformats.org/drawingml/2006/main" w="9525">
            <a:solidFill>
              <a:srgbClr val="244861"/>
            </a:solidFill>
            <a:prstDash val="solid"/>
          </a:ln>
        </p:spPr>
      </p:sp>
      <p:sp>
        <p:nvSpPr>
          <p:cNvPr id="140" name="">
            <a:extLst xmlns:a="http://schemas.openxmlformats.org/drawingml/2006/main">
              <a:ext uri="{FF2B5EF4-FFF2-40B4-BE49-F238E27FC236}">
                <a16:creationId xmlns:a16="http://schemas.microsoft.com/office/drawing/2014/main" id="{BA42DDD7-4EBB-4A10-8E5A-2C6DC7D1B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11025" y="8477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9D8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1" name="">
            <a:extLst xmlns:a="http://schemas.openxmlformats.org/drawingml/2006/main">
              <a:ext uri="{FF2B5EF4-FFF2-40B4-BE49-F238E27FC236}">
                <a16:creationId xmlns:a16="http://schemas.microsoft.com/office/drawing/2014/main" id="{8AE7DF0F-11AA-4CD7-9470-1E653C945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53875" y="1409700"/>
            <a:ext cx="266700" cy="419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72F47"/>
          </a:solidFill>
          <a:ln xmlns:a="http://schemas.openxmlformats.org/drawingml/2006/main" w="9525">
            <a:solidFill>
              <a:srgbClr val="244861"/>
            </a:solidFill>
            <a:prstDash val="solid"/>
          </a:ln>
        </p:spPr>
      </p:sp>
      <p:sp>
        <p:nvSpPr>
          <p:cNvPr id="142" name="">
            <a:extLst xmlns:a="http://schemas.openxmlformats.org/drawingml/2006/main">
              <a:ext uri="{FF2B5EF4-FFF2-40B4-BE49-F238E27FC236}">
                <a16:creationId xmlns:a16="http://schemas.microsoft.com/office/drawing/2014/main" id="{42BF6424-7BC7-45CF-B93C-92CC7A297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11025" y="14954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262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3" name="">
            <a:extLst xmlns:a="http://schemas.openxmlformats.org/drawingml/2006/main">
              <a:ext uri="{FF2B5EF4-FFF2-40B4-BE49-F238E27FC236}">
                <a16:creationId xmlns:a16="http://schemas.microsoft.com/office/drawing/2014/main" id="{C4906DEC-5EE3-42C5-B81E-319DEDCF6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53875" y="2057400"/>
            <a:ext cx="266700" cy="419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72F47"/>
          </a:solidFill>
          <a:ln xmlns:a="http://schemas.openxmlformats.org/drawingml/2006/main" w="9525">
            <a:solidFill>
              <a:srgbClr val="244861"/>
            </a:solidFill>
            <a:prstDash val="solid"/>
          </a:ln>
        </p:spPr>
      </p:sp>
      <p:sp>
        <p:nvSpPr>
          <p:cNvPr id="144" name="">
            <a:extLst xmlns:a="http://schemas.openxmlformats.org/drawingml/2006/main">
              <a:ext uri="{FF2B5EF4-FFF2-40B4-BE49-F238E27FC236}">
                <a16:creationId xmlns:a16="http://schemas.microsoft.com/office/drawing/2014/main" id="{579A3E53-7C6D-468E-9133-E117BE02B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11025" y="21431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262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5" name="">
            <a:extLst xmlns:a="http://schemas.openxmlformats.org/drawingml/2006/main">
              <a:ext uri="{FF2B5EF4-FFF2-40B4-BE49-F238E27FC236}">
                <a16:creationId xmlns:a16="http://schemas.microsoft.com/office/drawing/2014/main" id="{88E7E341-0745-46CC-9E0C-823A55D11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53875" y="2705100"/>
            <a:ext cx="266700" cy="419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72F47"/>
          </a:solidFill>
          <a:ln xmlns:a="http://schemas.openxmlformats.org/drawingml/2006/main" w="9525">
            <a:solidFill>
              <a:srgbClr val="244861"/>
            </a:solidFill>
            <a:prstDash val="solid"/>
          </a:ln>
        </p:spPr>
      </p:sp>
      <p:sp>
        <p:nvSpPr>
          <p:cNvPr id="146" name="">
            <a:extLst xmlns:a="http://schemas.openxmlformats.org/drawingml/2006/main">
              <a:ext uri="{FF2B5EF4-FFF2-40B4-BE49-F238E27FC236}">
                <a16:creationId xmlns:a16="http://schemas.microsoft.com/office/drawing/2014/main" id="{9389788E-0757-4F18-9C20-8FDAA373E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11025" y="27908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9D8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7" name="">
            <a:extLst xmlns:a="http://schemas.openxmlformats.org/drawingml/2006/main">
              <a:ext uri="{FF2B5EF4-FFF2-40B4-BE49-F238E27FC236}">
                <a16:creationId xmlns:a16="http://schemas.microsoft.com/office/drawing/2014/main" id="{E35F44D0-AF04-4D2E-82C2-F5969DD1B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53875" y="3352800"/>
            <a:ext cx="266700" cy="419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72F47"/>
          </a:solidFill>
          <a:ln xmlns:a="http://schemas.openxmlformats.org/drawingml/2006/main" w="9525">
            <a:solidFill>
              <a:srgbClr val="244861"/>
            </a:solidFill>
            <a:prstDash val="solid"/>
          </a:ln>
        </p:spPr>
      </p:sp>
      <p:sp>
        <p:nvSpPr>
          <p:cNvPr id="148" name="">
            <a:extLst xmlns:a="http://schemas.openxmlformats.org/drawingml/2006/main">
              <a:ext uri="{FF2B5EF4-FFF2-40B4-BE49-F238E27FC236}">
                <a16:creationId xmlns:a16="http://schemas.microsoft.com/office/drawing/2014/main" id="{587982EF-443F-4A5D-B4FA-F29BF2F74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11025" y="34385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262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9" name="">
            <a:extLst xmlns:a="http://schemas.openxmlformats.org/drawingml/2006/main">
              <a:ext uri="{FF2B5EF4-FFF2-40B4-BE49-F238E27FC236}">
                <a16:creationId xmlns:a16="http://schemas.microsoft.com/office/drawing/2014/main" id="{B656221A-C664-400D-8A67-7A307894F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53875" y="4000500"/>
            <a:ext cx="266700" cy="419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72F47"/>
          </a:solidFill>
          <a:ln xmlns:a="http://schemas.openxmlformats.org/drawingml/2006/main" w="9525">
            <a:solidFill>
              <a:srgbClr val="244861"/>
            </a:solidFill>
            <a:prstDash val="solid"/>
          </a:ln>
        </p:spPr>
      </p:sp>
      <p:sp>
        <p:nvSpPr>
          <p:cNvPr id="150" name="">
            <a:extLst xmlns:a="http://schemas.openxmlformats.org/drawingml/2006/main">
              <a:ext uri="{FF2B5EF4-FFF2-40B4-BE49-F238E27FC236}">
                <a16:creationId xmlns:a16="http://schemas.microsoft.com/office/drawing/2014/main" id="{646EE433-4AC0-4723-ADB9-C549BA9F3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11025" y="40862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262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1" name="">
            <a:extLst xmlns:a="http://schemas.openxmlformats.org/drawingml/2006/main">
              <a:ext uri="{FF2B5EF4-FFF2-40B4-BE49-F238E27FC236}">
                <a16:creationId xmlns:a16="http://schemas.microsoft.com/office/drawing/2014/main" id="{4D49A7E9-6010-4B1A-9A74-A0471F93D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53875" y="4648200"/>
            <a:ext cx="266700" cy="419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72F47"/>
          </a:solidFill>
          <a:ln xmlns:a="http://schemas.openxmlformats.org/drawingml/2006/main" w="9525">
            <a:solidFill>
              <a:srgbClr val="244861"/>
            </a:solidFill>
            <a:prstDash val="solid"/>
          </a:ln>
        </p:spPr>
      </p:sp>
      <p:sp>
        <p:nvSpPr>
          <p:cNvPr id="152" name="">
            <a:extLst xmlns:a="http://schemas.openxmlformats.org/drawingml/2006/main">
              <a:ext uri="{FF2B5EF4-FFF2-40B4-BE49-F238E27FC236}">
                <a16:creationId xmlns:a16="http://schemas.microsoft.com/office/drawing/2014/main" id="{67251E20-4317-43A3-A2EB-8ED82CAF8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11025" y="47339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9D8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3" name="">
            <a:extLst xmlns:a="http://schemas.openxmlformats.org/drawingml/2006/main">
              <a:ext uri="{FF2B5EF4-FFF2-40B4-BE49-F238E27FC236}">
                <a16:creationId xmlns:a16="http://schemas.microsoft.com/office/drawing/2014/main" id="{53EB1330-3271-49CC-886C-FA4062A62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53875" y="5295900"/>
            <a:ext cx="266700" cy="419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72F47"/>
          </a:solidFill>
          <a:ln xmlns:a="http://schemas.openxmlformats.org/drawingml/2006/main" w="9525">
            <a:solidFill>
              <a:srgbClr val="244861"/>
            </a:solidFill>
            <a:prstDash val="solid"/>
          </a:ln>
        </p:spPr>
      </p:sp>
      <p:sp>
        <p:nvSpPr>
          <p:cNvPr id="154" name="">
            <a:extLst xmlns:a="http://schemas.openxmlformats.org/drawingml/2006/main">
              <a:ext uri="{FF2B5EF4-FFF2-40B4-BE49-F238E27FC236}">
                <a16:creationId xmlns:a16="http://schemas.microsoft.com/office/drawing/2014/main" id="{E3DB6696-4E32-468F-B9F8-50A2AE017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11025" y="53816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262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5" name="">
            <a:extLst xmlns:a="http://schemas.openxmlformats.org/drawingml/2006/main">
              <a:ext uri="{FF2B5EF4-FFF2-40B4-BE49-F238E27FC236}">
                <a16:creationId xmlns:a16="http://schemas.microsoft.com/office/drawing/2014/main" id="{EE9E96BD-1250-4FCE-BD7D-FE3742ED6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23900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8111F"/>
              </a:gs>
              <a:gs pos="75000">
                <a:srgbClr val="08111F">
                  <a:alpha val="92000"/>
                </a:srgbClr>
              </a:gs>
              <a:gs pos="100000">
                <a:srgbClr val="08111F">
                  <a:alpha val="12000"/>
                </a:srgbClr>
              </a:gs>
            </a:gsLst>
            <a:lin ang="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156" name="">
            <a:extLst xmlns:a="http://schemas.openxmlformats.org/drawingml/2006/main">
              <a:ext uri="{FF2B5EF4-FFF2-40B4-BE49-F238E27FC236}">
                <a16:creationId xmlns:a16="http://schemas.microsoft.com/office/drawing/2014/main" id="{A84507DA-EA13-41F5-8E98-A1ADF08DE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62000"/>
            <a:ext cx="628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9D8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59D8E8"/>
                </a:solidFill>
                <a:latin typeface="Microsoft YaHei"/>
                <a:ea typeface="Microsoft YaHei"/>
                <a:cs typeface="Microsoft YaHei"/>
              </a:rPr>
              <a:t>DGX SPARK HACKATHON  ·  安全智能体</a:t>
            </a:r>
          </a:p>
        </p:txBody>
      </p:sp>
      <p:sp>
        <p:nvSpPr>
          <p:cNvPr id="157" name="">
            <a:extLst xmlns:a="http://schemas.openxmlformats.org/drawingml/2006/main">
              <a:ext uri="{FF2B5EF4-FFF2-40B4-BE49-F238E27FC236}">
                <a16:creationId xmlns:a16="http://schemas.microsoft.com/office/drawing/2014/main" id="{436AC4CB-F32F-4BE3-AD8F-C913058A9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76375"/>
            <a:ext cx="5905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950" b="1">
                <a:solidFill>
                  <a:srgbClr val="F2F6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950" b="1">
                <a:solidFill>
                  <a:srgbClr val="F2F6FC"/>
                </a:solidFill>
                <a:latin typeface="Microsoft YaHei"/>
                <a:ea typeface="Microsoft YaHei"/>
                <a:cs typeface="Microsoft YaHei"/>
              </a:rPr>
              <a:t>Aegis</a:t>
            </a:r>
          </a:p>
        </p:txBody>
      </p:sp>
      <p:sp>
        <p:nvSpPr>
          <p:cNvPr id="158" name="">
            <a:extLst xmlns:a="http://schemas.openxmlformats.org/drawingml/2006/main">
              <a:ext uri="{FF2B5EF4-FFF2-40B4-BE49-F238E27FC236}">
                <a16:creationId xmlns:a16="http://schemas.microsoft.com/office/drawing/2014/main" id="{FCB6575C-EB13-4B07-850B-B278A1F4F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43175"/>
            <a:ext cx="6191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F2F6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1">
                <a:solidFill>
                  <a:srgbClr val="F2F6FC"/>
                </a:solidFill>
                <a:latin typeface="Microsoft YaHei"/>
                <a:ea typeface="Microsoft YaHei"/>
                <a:cs typeface="Microsoft YaHei"/>
              </a:rPr>
              <a:t>受控 RSI：递归自我改进</a:t>
            </a:r>
          </a:p>
        </p:txBody>
      </p:sp>
      <p:sp>
        <p:nvSpPr>
          <p:cNvPr id="159" name="">
            <a:extLst xmlns:a="http://schemas.openxmlformats.org/drawingml/2006/main">
              <a:ext uri="{FF2B5EF4-FFF2-40B4-BE49-F238E27FC236}">
                <a16:creationId xmlns:a16="http://schemas.microsoft.com/office/drawing/2014/main" id="{6C691AB8-EA78-4879-96DD-D4493DBD1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305175"/>
            <a:ext cx="5953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A8B6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A8B6C8"/>
                </a:solidFill>
                <a:latin typeface="Microsoft YaHei"/>
                <a:ea typeface="Microsoft YaHei"/>
                <a:cs typeface="Microsoft YaHei"/>
              </a:rPr>
              <a:t>自挖风险 · JEV 判流量 · 自修补 · 样本回流训练</a:t>
            </a:r>
          </a:p>
        </p:txBody>
      </p:sp>
      <p:sp>
        <p:nvSpPr>
          <p:cNvPr id="160" name="">
            <a:extLst xmlns:a="http://schemas.openxmlformats.org/drawingml/2006/main">
              <a:ext uri="{FF2B5EF4-FFF2-40B4-BE49-F238E27FC236}">
                <a16:creationId xmlns:a16="http://schemas.microsoft.com/office/drawing/2014/main" id="{A11E5183-CBB1-4AE6-9B2B-16B04B941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48125"/>
            <a:ext cx="5524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9D8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1" name="">
            <a:extLst xmlns:a="http://schemas.openxmlformats.org/drawingml/2006/main">
              <a:ext uri="{FF2B5EF4-FFF2-40B4-BE49-F238E27FC236}">
                <a16:creationId xmlns:a16="http://schemas.microsoft.com/office/drawing/2014/main" id="{B712421C-DAF6-42A2-B130-4D221364C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295775"/>
            <a:ext cx="6096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2F6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F2F6FC"/>
                </a:solidFill>
                <a:latin typeface="Microsoft YaHei"/>
                <a:ea typeface="Microsoft YaHei"/>
                <a:cs typeface="Microsoft YaHei"/>
              </a:rPr>
              <a:t>每轮对抗，都留下下一轮改进所需的证据</a:t>
            </a:r>
          </a:p>
        </p:txBody>
      </p:sp>
      <p:sp>
        <p:nvSpPr>
          <p:cNvPr id="162" name="">
            <a:extLst xmlns:a="http://schemas.openxmlformats.org/drawingml/2006/main">
              <a:ext uri="{FF2B5EF4-FFF2-40B4-BE49-F238E27FC236}">
                <a16:creationId xmlns:a16="http://schemas.microsoft.com/office/drawing/2014/main" id="{9D74F2D4-EA2C-4CAA-A5CB-89156D78E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095875"/>
            <a:ext cx="13525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B6B">
              <a:alpha val="18000"/>
            </a:srgbClr>
          </a:solidFill>
          <a:ln xmlns:a="http://schemas.openxmlformats.org/drawingml/2006/main" w="9525">
            <a:solidFill>
              <a:srgbClr val="FF6B6B">
                <a:alpha val="60000"/>
              </a:srgbClr>
            </a:solidFill>
            <a:prstDash val="solid"/>
          </a:ln>
        </p:spPr>
      </p:sp>
      <p:sp>
        <p:nvSpPr>
          <p:cNvPr id="163" name="">
            <a:extLst xmlns:a="http://schemas.openxmlformats.org/drawingml/2006/main">
              <a:ext uri="{FF2B5EF4-FFF2-40B4-BE49-F238E27FC236}">
                <a16:creationId xmlns:a16="http://schemas.microsoft.com/office/drawing/2014/main" id="{A17F64F3-4517-49F4-A84A-9202011F9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114925"/>
            <a:ext cx="1200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6B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FF6B6B"/>
                </a:solidFill>
                <a:latin typeface="Microsoft YaHei"/>
                <a:ea typeface="Microsoft YaHei"/>
                <a:cs typeface="Microsoft YaHei"/>
              </a:rPr>
              <a:t>RED TEAM</a:t>
            </a:r>
          </a:p>
        </p:txBody>
      </p:sp>
      <p:sp>
        <p:nvSpPr>
          <p:cNvPr id="164" name="">
            <a:extLst xmlns:a="http://schemas.openxmlformats.org/drawingml/2006/main">
              <a:ext uri="{FF2B5EF4-FFF2-40B4-BE49-F238E27FC236}">
                <a16:creationId xmlns:a16="http://schemas.microsoft.com/office/drawing/2014/main" id="{DFD22D93-4DE6-4277-BA79-0489F9A2F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5095875"/>
            <a:ext cx="13525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A91FF">
              <a:alpha val="18000"/>
            </a:srgbClr>
          </a:solidFill>
          <a:ln xmlns:a="http://schemas.openxmlformats.org/drawingml/2006/main" w="9525">
            <a:solidFill>
              <a:srgbClr val="4A91FF">
                <a:alpha val="60000"/>
              </a:srgbClr>
            </a:solidFill>
            <a:prstDash val="solid"/>
          </a:ln>
        </p:spPr>
      </p:sp>
      <p:sp>
        <p:nvSpPr>
          <p:cNvPr id="165" name="">
            <a:extLst xmlns:a="http://schemas.openxmlformats.org/drawingml/2006/main">
              <a:ext uri="{FF2B5EF4-FFF2-40B4-BE49-F238E27FC236}">
                <a16:creationId xmlns:a16="http://schemas.microsoft.com/office/drawing/2014/main" id="{BDE2D50B-DA8D-454F-8817-6B317329A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5114925"/>
            <a:ext cx="1200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4A91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4A91FF"/>
                </a:solidFill>
                <a:latin typeface="Microsoft YaHei"/>
                <a:ea typeface="Microsoft YaHei"/>
                <a:cs typeface="Microsoft YaHei"/>
              </a:rPr>
              <a:t>BLUE TEAM</a:t>
            </a:r>
          </a:p>
        </p:txBody>
      </p:sp>
      <p:sp>
        <p:nvSpPr>
          <p:cNvPr id="166" name="">
            <a:extLst xmlns:a="http://schemas.openxmlformats.org/drawingml/2006/main">
              <a:ext uri="{FF2B5EF4-FFF2-40B4-BE49-F238E27FC236}">
                <a16:creationId xmlns:a16="http://schemas.microsoft.com/office/drawing/2014/main" id="{A722C201-4321-49DE-A48E-5E3C3BD9A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5095875"/>
            <a:ext cx="13525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9D8E8">
              <a:alpha val="18000"/>
            </a:srgbClr>
          </a:solidFill>
          <a:ln xmlns:a="http://schemas.openxmlformats.org/drawingml/2006/main" w="9525">
            <a:solidFill>
              <a:srgbClr val="59D8E8">
                <a:alpha val="60000"/>
              </a:srgbClr>
            </a:solidFill>
            <a:prstDash val="solid"/>
          </a:ln>
        </p:spPr>
      </p:sp>
      <p:sp>
        <p:nvSpPr>
          <p:cNvPr id="167" name="">
            <a:extLst xmlns:a="http://schemas.openxmlformats.org/drawingml/2006/main">
              <a:ext uri="{FF2B5EF4-FFF2-40B4-BE49-F238E27FC236}">
                <a16:creationId xmlns:a16="http://schemas.microsoft.com/office/drawing/2014/main" id="{4C7B6415-D00C-44A3-997F-99094CFFC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5114925"/>
            <a:ext cx="1200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59D8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59D8E8"/>
                </a:solidFill>
                <a:latin typeface="Microsoft YaHei"/>
                <a:ea typeface="Microsoft YaHei"/>
                <a:cs typeface="Microsoft YaHei"/>
              </a:rPr>
              <a:t>JEV JUDGE</a:t>
            </a:r>
          </a:p>
        </p:txBody>
      </p:sp>
      <p:sp>
        <p:nvSpPr>
          <p:cNvPr id="168" name="">
            <a:extLst xmlns:a="http://schemas.openxmlformats.org/drawingml/2006/main">
              <a:ext uri="{FF2B5EF4-FFF2-40B4-BE49-F238E27FC236}">
                <a16:creationId xmlns:a16="http://schemas.microsoft.com/office/drawing/2014/main" id="{1655DA0F-AD45-43F7-A0AD-144EC0BC5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6000750"/>
            <a:ext cx="5810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A8B6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A8B6C8"/>
                </a:solidFill>
                <a:latin typeface="Microsoft YaHei"/>
                <a:ea typeface="Microsoft YaHei"/>
                <a:cs typeface="Microsoft YaHei"/>
              </a:rPr>
              <a:t>面向保险等高敏感业务的可审计安全改进循环</a:t>
            </a:r>
          </a:p>
        </p:txBody>
      </p:sp>
    </p:spTree>
    <p:extLst>
      <p:ext uri="{BB962C8B-B14F-4D97-AF65-F5344CB8AC3E}">
        <p14:creationId xmlns:p14="http://schemas.microsoft.com/office/powerpoint/2010/main" val="96001741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8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FDC79E9-7277-45C4-A86D-F3355FF65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477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9D8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59D8E8"/>
                </a:solidFill>
                <a:latin typeface="Microsoft YaHei"/>
                <a:ea typeface="Microsoft YaHei"/>
                <a:cs typeface="Microsoft YaHei"/>
              </a:rPr>
              <a:t>核心机制 · RECURSIVE SELF-IMPROVEMENT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322FC9E-04D4-411F-8D61-22F48C5C2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2F6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F2F6FC"/>
                </a:solidFill>
                <a:latin typeface="Microsoft YaHei"/>
                <a:ea typeface="Microsoft YaHei"/>
                <a:cs typeface="Microsoft YaHei"/>
              </a:rPr>
              <a:t>RSI 把每轮对抗的结果，变成下一轮改进的输入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45B1DB-C971-4611-8034-7018535B6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00175"/>
            <a:ext cx="10858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2F6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2F6FC"/>
                </a:solidFill>
                <a:latin typeface="Microsoft YaHei"/>
                <a:ea typeface="Microsoft YaHei"/>
                <a:cs typeface="Microsoft YaHei"/>
              </a:rPr>
              <a:t>红方发现风险，JEV 判断流量，蓝方修补代码；复测结果回流为训练材料。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F387A32-FF1B-495D-9D4C-A52EA067F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047875"/>
            <a:ext cx="2952750" cy="1095375"/>
          </a:xfrm>
          <a:prstGeom xmlns:a="http://schemas.openxmlformats.org/drawingml/2006/main" prst="roundRect">
            <a:avLst>
              <a:gd name="adj" fmla="val 15652"/>
            </a:avLst>
          </a:prstGeom>
          <a:solidFill xmlns:a="http://schemas.openxmlformats.org/drawingml/2006/main">
            <a:srgbClr val="101D2D"/>
          </a:solidFill>
          <a:ln xmlns:a="http://schemas.openxmlformats.org/drawingml/2006/main" w="9525">
            <a:solidFill>
              <a:srgbClr val="29415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68F5986-A7EC-4F05-A3BA-BD024B7BD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047875"/>
            <a:ext cx="47625" cy="109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6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3D8C5BB-B5BB-44EA-9063-99EECBE73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219325"/>
            <a:ext cx="2533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F6B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FF6B6B"/>
                </a:solidFill>
                <a:latin typeface="Microsoft YaHei"/>
                <a:ea typeface="Microsoft YaHei"/>
                <a:cs typeface="Microsoft YaHei"/>
              </a:rPr>
              <a:t>1  红方自挖风险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A4C33B5-01E6-4BD6-BCA2-13F093D91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600325"/>
            <a:ext cx="25336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9537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2F6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F2F6FC"/>
                </a:solidFill>
                <a:latin typeface="Microsoft YaHei"/>
                <a:ea typeface="Microsoft YaHei"/>
                <a:cs typeface="Microsoft YaHei"/>
              </a:rPr>
              <a:t>探测授权目标</a:t>
            </a:r>
          </a:p>
          <a:p xmlns:a="http://schemas.openxmlformats.org/drawingml/2006/main">
            <a:pPr algn="l">
              <a:defRPr sz="1350" b="0">
                <a:solidFill>
                  <a:srgbClr val="F2F6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F2F6FC"/>
                </a:solidFill>
                <a:latin typeface="Microsoft YaHei"/>
                <a:ea typeface="Microsoft YaHei"/>
                <a:cs typeface="Microsoft YaHei"/>
              </a:rPr>
              <a:t>记录攻击与正常交换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1E1F94B-9166-43E8-A372-985C21F31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047875"/>
            <a:ext cx="2952750" cy="1095375"/>
          </a:xfrm>
          <a:prstGeom xmlns:a="http://schemas.openxmlformats.org/drawingml/2006/main" prst="roundRect">
            <a:avLst>
              <a:gd name="adj" fmla="val 15652"/>
            </a:avLst>
          </a:prstGeom>
          <a:solidFill xmlns:a="http://schemas.openxmlformats.org/drawingml/2006/main">
            <a:srgbClr val="101D2D"/>
          </a:solidFill>
          <a:ln xmlns:a="http://schemas.openxmlformats.org/drawingml/2006/main" w="9525">
            <a:solidFill>
              <a:srgbClr val="29415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7DC6043-2186-4287-8CEB-4FBAFA0D7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047875"/>
            <a:ext cx="47625" cy="109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9D8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ABED550-824C-499F-B6CE-2A7DE490E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9175" y="2219325"/>
            <a:ext cx="2533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59D8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59D8E8"/>
                </a:solidFill>
                <a:latin typeface="Microsoft YaHei"/>
                <a:ea typeface="Microsoft YaHei"/>
                <a:cs typeface="Microsoft YaHei"/>
              </a:rPr>
              <a:t>2  JEV 独立判断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14D8A55-86FB-4F4A-BF38-5E1E3A558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9175" y="2600325"/>
            <a:ext cx="25336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9537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2F6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F2F6FC"/>
                </a:solidFill>
                <a:latin typeface="Microsoft YaHei"/>
                <a:ea typeface="Microsoft YaHei"/>
                <a:cs typeface="Microsoft YaHei"/>
              </a:rPr>
              <a:t>判攻 / 正常，与规则并行</a:t>
            </a:r>
          </a:p>
          <a:p xmlns:a="http://schemas.openxmlformats.org/drawingml/2006/main">
            <a:pPr algn="l">
              <a:defRPr sz="1350" b="0">
                <a:solidFill>
                  <a:srgbClr val="F2F6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F2F6FC"/>
                </a:solidFill>
                <a:latin typeface="Microsoft YaHei"/>
                <a:ea typeface="Microsoft YaHei"/>
                <a:cs typeface="Microsoft YaHei"/>
              </a:rPr>
              <a:t>保留分歧与误报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1203512-1815-492A-A6DA-6EC00568E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047875"/>
            <a:ext cx="2952750" cy="1095375"/>
          </a:xfrm>
          <a:prstGeom xmlns:a="http://schemas.openxmlformats.org/drawingml/2006/main" prst="roundRect">
            <a:avLst>
              <a:gd name="adj" fmla="val 15652"/>
            </a:avLst>
          </a:prstGeom>
          <a:solidFill xmlns:a="http://schemas.openxmlformats.org/drawingml/2006/main">
            <a:srgbClr val="101D2D"/>
          </a:solidFill>
          <a:ln xmlns:a="http://schemas.openxmlformats.org/drawingml/2006/main" w="9525">
            <a:solidFill>
              <a:srgbClr val="29415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B265C9C-2790-4598-980A-0E59C0AF9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047875"/>
            <a:ext cx="47625" cy="109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91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08FF92F-76E6-4C9F-A6E7-C31F3DEE6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2219325"/>
            <a:ext cx="2533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4A91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4A91FF"/>
                </a:solidFill>
                <a:latin typeface="Microsoft YaHei"/>
                <a:ea typeface="Microsoft YaHei"/>
                <a:cs typeface="Microsoft YaHei"/>
              </a:rPr>
              <a:t>3  蓝方自修补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FE78F96-9B5B-47C4-A949-3AB8C0973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2600325"/>
            <a:ext cx="25336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9537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2F6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F2F6FC"/>
                </a:solidFill>
                <a:latin typeface="Microsoft YaHei"/>
                <a:ea typeface="Microsoft YaHei"/>
                <a:cs typeface="Microsoft YaHei"/>
              </a:rPr>
              <a:t>模型生成候选 diff</a:t>
            </a:r>
          </a:p>
          <a:p xmlns:a="http://schemas.openxmlformats.org/drawingml/2006/main">
            <a:pPr algn="l">
              <a:defRPr sz="1350" b="0">
                <a:solidFill>
                  <a:srgbClr val="F2F6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F2F6FC"/>
                </a:solidFill>
                <a:latin typeface="Microsoft YaHei"/>
                <a:ea typeface="Microsoft YaHei"/>
                <a:cs typeface="Microsoft YaHei"/>
              </a:rPr>
              <a:t>通过门禁后部署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3305FB4-25A2-4784-AEFC-C8013D4F1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905250"/>
            <a:ext cx="2952750" cy="1095375"/>
          </a:xfrm>
          <a:prstGeom xmlns:a="http://schemas.openxmlformats.org/drawingml/2006/main" prst="roundRect">
            <a:avLst>
              <a:gd name="adj" fmla="val 15652"/>
            </a:avLst>
          </a:prstGeom>
          <a:solidFill xmlns:a="http://schemas.openxmlformats.org/drawingml/2006/main">
            <a:srgbClr val="101D2D"/>
          </a:solidFill>
          <a:ln xmlns:a="http://schemas.openxmlformats.org/drawingml/2006/main" w="9525">
            <a:solidFill>
              <a:srgbClr val="29415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2B37A1C-3D99-4BDA-8B16-C70522CAF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905250"/>
            <a:ext cx="47625" cy="109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3D6A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6758ED3-1EA9-49DC-9387-7BEC10EBA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4076700"/>
            <a:ext cx="2533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63D6A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63D6A1"/>
                </a:solidFill>
                <a:latin typeface="Microsoft YaHei"/>
                <a:ea typeface="Microsoft YaHei"/>
                <a:cs typeface="Microsoft YaHei"/>
              </a:rPr>
              <a:t>4  复测验证改进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9723125-0BC7-4934-B1C5-AD56AA4FD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4457700"/>
            <a:ext cx="25336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9537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2F6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F2F6FC"/>
                </a:solidFill>
                <a:latin typeface="Microsoft YaHei"/>
                <a:ea typeface="Microsoft YaHei"/>
                <a:cs typeface="Microsoft YaHei"/>
              </a:rPr>
              <a:t>重放攻击 + 正常业务测试</a:t>
            </a:r>
          </a:p>
          <a:p xmlns:a="http://schemas.openxmlformats.org/drawingml/2006/main">
            <a:pPr algn="l">
              <a:defRPr sz="1350" b="0">
                <a:solidFill>
                  <a:srgbClr val="F2F6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F2F6FC"/>
                </a:solidFill>
                <a:latin typeface="Microsoft YaHei"/>
                <a:ea typeface="Microsoft YaHei"/>
                <a:cs typeface="Microsoft YaHei"/>
              </a:rPr>
              <a:t>验证结果与恢复过程留证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CFEC090-34C4-470A-9F07-EAA57025D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3905250"/>
            <a:ext cx="2952750" cy="1095375"/>
          </a:xfrm>
          <a:prstGeom xmlns:a="http://schemas.openxmlformats.org/drawingml/2006/main" prst="roundRect">
            <a:avLst>
              <a:gd name="adj" fmla="val 15652"/>
            </a:avLst>
          </a:prstGeom>
          <a:solidFill xmlns:a="http://schemas.openxmlformats.org/drawingml/2006/main">
            <a:srgbClr val="101D2D"/>
          </a:solidFill>
          <a:ln xmlns:a="http://schemas.openxmlformats.org/drawingml/2006/main" w="9525">
            <a:solidFill>
              <a:srgbClr val="29415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41A5FDC-089C-45B6-90FC-11B8787CF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3905250"/>
            <a:ext cx="47625" cy="109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8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8F47B70-8FEE-463A-8F7D-613F85992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9175" y="4076700"/>
            <a:ext cx="2533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FC8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FFC857"/>
                </a:solidFill>
                <a:latin typeface="Microsoft YaHei"/>
                <a:ea typeface="Microsoft YaHei"/>
                <a:cs typeface="Microsoft YaHei"/>
              </a:rPr>
              <a:t>5  形成训练材料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9665C47-8C2F-4A71-91DD-AE7C22FC3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9175" y="4457700"/>
            <a:ext cx="25336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9537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2F6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F2F6FC"/>
                </a:solidFill>
                <a:latin typeface="Microsoft YaHei"/>
                <a:ea typeface="Microsoft YaHei"/>
                <a:cs typeface="Microsoft YaHei"/>
              </a:rPr>
              <a:t>样本入队、去重与人工复核</a:t>
            </a:r>
          </a:p>
          <a:p xmlns:a="http://schemas.openxmlformats.org/drawingml/2006/main">
            <a:pPr algn="l">
              <a:defRPr sz="1350" b="0">
                <a:solidFill>
                  <a:srgbClr val="F2F6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F2F6FC"/>
                </a:solidFill>
                <a:latin typeface="Microsoft YaHei"/>
                <a:ea typeface="Microsoft YaHei"/>
                <a:cs typeface="Microsoft YaHei"/>
              </a:rPr>
              <a:t>按家族切分，隔离评估集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A4594B4-60CA-4DB2-95A0-A23E7992B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905250"/>
            <a:ext cx="2952750" cy="1095375"/>
          </a:xfrm>
          <a:prstGeom xmlns:a="http://schemas.openxmlformats.org/drawingml/2006/main" prst="roundRect">
            <a:avLst>
              <a:gd name="adj" fmla="val 15652"/>
            </a:avLst>
          </a:prstGeom>
          <a:solidFill xmlns:a="http://schemas.openxmlformats.org/drawingml/2006/main">
            <a:srgbClr val="101D2D"/>
          </a:solidFill>
          <a:ln xmlns:a="http://schemas.openxmlformats.org/drawingml/2006/main" w="9525">
            <a:solidFill>
              <a:srgbClr val="29415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932F7E3-B670-432B-849A-5416ABD39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905250"/>
            <a:ext cx="47625" cy="109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3D6A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67FB32B-528A-46E8-B2B8-488202975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076700"/>
            <a:ext cx="2533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63D6A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63D6A1"/>
                </a:solidFill>
                <a:latin typeface="Microsoft YaHei"/>
                <a:ea typeface="Microsoft YaHei"/>
                <a:cs typeface="Microsoft YaHei"/>
              </a:rPr>
              <a:t>6  下一版 JEV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1BA85FA-93D5-483E-A661-349C35F41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457700"/>
            <a:ext cx="25336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9537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2F6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F2F6FC"/>
                </a:solidFill>
                <a:latin typeface="Microsoft YaHei"/>
                <a:ea typeface="Microsoft YaHei"/>
                <a:cs typeface="Microsoft YaHei"/>
              </a:rPr>
              <a:t>离线重训 + 封存评估</a:t>
            </a:r>
          </a:p>
          <a:p xmlns:a="http://schemas.openxmlformats.org/drawingml/2006/main">
            <a:pPr algn="l">
              <a:defRPr sz="1350" b="0">
                <a:solidFill>
                  <a:srgbClr val="F2F6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F2F6FC"/>
                </a:solidFill>
                <a:latin typeface="Microsoft YaHei"/>
                <a:ea typeface="Microsoft YaHei"/>
                <a:cs typeface="Microsoft YaHei"/>
              </a:rPr>
              <a:t>通过后参与下一轮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0C0C25A-B039-496F-84DA-AD54F3D11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775" y="2400300"/>
            <a:ext cx="5905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8039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59D8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59D8E8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4F65E82-EC30-4AB6-B259-136B15437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400300"/>
            <a:ext cx="5905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8039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59D8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59D8E8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5DE9293-6EA8-4B57-901F-781E7F127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2625" y="3276600"/>
            <a:ext cx="5905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8039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59D8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59D8E8"/>
                </a:solidFill>
                <a:latin typeface="Microsoft YaHei"/>
                <a:ea typeface="Microsoft YaHei"/>
                <a:cs typeface="Microsoft YaHei"/>
              </a:rPr>
              <a:t>↓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77AEC1E-FABD-40AC-81CC-FBEE1D952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4257675"/>
            <a:ext cx="5905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8039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59D8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59D8E8"/>
                </a:solidFill>
                <a:latin typeface="Microsoft YaHei"/>
                <a:ea typeface="Microsoft YaHei"/>
                <a:cs typeface="Microsoft YaHei"/>
              </a:rPr>
              <a:t>←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AB57298-33A5-4F3D-BFA4-9CA758205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775" y="4257675"/>
            <a:ext cx="5905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8039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59D8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59D8E8"/>
                </a:solidFill>
                <a:latin typeface="Microsoft YaHei"/>
                <a:ea typeface="Microsoft YaHei"/>
                <a:cs typeface="Microsoft YaHei"/>
              </a:rPr>
              <a:t>←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4D9E767-18A2-415F-A1B0-1A07CCBBC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8825" y="3276600"/>
            <a:ext cx="5905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8039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63D6A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63D6A1"/>
                </a:solidFill>
                <a:latin typeface="Microsoft YaHei"/>
                <a:ea typeface="Microsoft YaHei"/>
                <a:cs typeface="Microsoft YaHei"/>
              </a:rPr>
              <a:t>↑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FF26DF2-E199-414C-9FF0-8E5B13013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333750"/>
            <a:ext cx="52197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63D6A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63D6A1"/>
                </a:solidFill>
                <a:latin typeface="Microsoft YaHei"/>
                <a:ea typeface="Microsoft YaHei"/>
                <a:cs typeface="Microsoft YaHei"/>
              </a:rPr>
              <a:t>版本 n → n+1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C191D39-9194-4759-8058-4B728867E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686175"/>
            <a:ext cx="5143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A8B6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A8B6C8"/>
                </a:solidFill>
                <a:latin typeface="Microsoft YaHei"/>
                <a:ea typeface="Microsoft YaHei"/>
                <a:cs typeface="Microsoft YaHei"/>
              </a:rPr>
              <a:t>代码修补反馈 + 判官训练反馈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BCC66DD-E41C-4CFC-B24F-5A2F2D6EC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343525"/>
            <a:ext cx="105727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3D6A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63D6A1"/>
                </a:solidFill>
                <a:latin typeface="Microsoft YaHei"/>
                <a:ea typeface="Microsoft YaHei"/>
                <a:cs typeface="Microsoft YaHei"/>
              </a:rPr>
              <a:t>已实跑：探测、判读、门禁修补、复测、样本入队；已完成历史材料上的 v3 训练与评估。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73B5B4B-0490-4B48-8846-8B7D64F88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762625"/>
            <a:ext cx="1057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FC8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FC857"/>
                </a:solidFill>
                <a:latin typeface="Microsoft YaHei"/>
                <a:ea typeface="Microsoft YaHei"/>
                <a:cs typeface="Microsoft YaHei"/>
              </a:rPr>
              <a:t>下一步：审核本轮新样本并重训。当前在线仍使用 v3；下一版权重尚未产出。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A983080-0E8A-4D1C-8D14-54371D835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36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699CF03-0FB4-4095-9EC7-67ED43B8A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86525"/>
            <a:ext cx="809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A8B6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A8B6C8"/>
                </a:solidFill>
                <a:latin typeface="Microsoft YaHei"/>
                <a:ea typeface="Microsoft YaHei"/>
                <a:cs typeface="Microsoft YaHei"/>
              </a:rPr>
              <a:t>AEGIS · DGX SPARK HACKATHON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3D820C1-ED3D-430F-B518-107EB99B3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57950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59D8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59D8E8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89157084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8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2C16886-1EBC-44E5-AE69-FBB3C9DE0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477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9D8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59D8E8"/>
                </a:solidFill>
                <a:latin typeface="Microsoft YaHei"/>
                <a:ea typeface="Microsoft YaHei"/>
                <a:cs typeface="Microsoft YaHei"/>
              </a:rPr>
              <a:t>风险背景 · 公开披露案例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520C7B-820C-4E69-89A5-CFE289238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2F6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F2F6FC"/>
                </a:solidFill>
                <a:latin typeface="Microsoft YaHei"/>
                <a:ea typeface="Microsoft YaHei"/>
                <a:cs typeface="Microsoft YaHei"/>
              </a:rPr>
              <a:t>模型能力、工具权限与隔离边界必须一起治理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559960E-2488-409A-8284-E43CE599A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38275"/>
            <a:ext cx="1057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835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2F6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F2F6FC"/>
                </a:solidFill>
                <a:latin typeface="Microsoft YaHei"/>
                <a:ea typeface="Microsoft YaHei"/>
                <a:cs typeface="Microsoft YaHei"/>
              </a:rPr>
              <a:t>2026 年公开披露：内部网络安全评测中的 AI agent 越过隔离边界，触及 Hugging Face 基础设施。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30E5EB-8A94-441B-A4B8-D3E42A484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276475"/>
            <a:ext cx="3238500" cy="1809750"/>
          </a:xfrm>
          <a:prstGeom xmlns:a="http://schemas.openxmlformats.org/drawingml/2006/main" prst="roundRect">
            <a:avLst>
              <a:gd name="adj" fmla="val 9474"/>
            </a:avLst>
          </a:prstGeom>
          <a:solidFill xmlns:a="http://schemas.openxmlformats.org/drawingml/2006/main">
            <a:srgbClr val="101D2D"/>
          </a:solidFill>
          <a:ln xmlns:a="http://schemas.openxmlformats.org/drawingml/2006/main" w="9525">
            <a:solidFill>
              <a:srgbClr val="29415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909D93-44AA-4F19-B3FE-B47B5F7B9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276475"/>
            <a:ext cx="47625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6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4FA4E63-FA47-470B-9857-C829B1AAB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447925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F6B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FF6B6B"/>
                </a:solidFill>
                <a:latin typeface="Microsoft YaHei"/>
                <a:ea typeface="Microsoft YaHei"/>
                <a:cs typeface="Microsoft YaHei"/>
              </a:rPr>
              <a:t>起点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92DFDE3-BC56-40B4-BB84-109FCD197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828925"/>
            <a:ext cx="28194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2F6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F2F6FC"/>
                </a:solidFill>
                <a:latin typeface="Microsoft YaHei"/>
                <a:ea typeface="Microsoft YaHei"/>
                <a:cs typeface="Microsoft YaHei"/>
              </a:rPr>
              <a:t>内部网络安全评测</a:t>
            </a:r>
          </a:p>
          <a:p xmlns:a="http://schemas.openxmlformats.org/drawingml/2006/main">
            <a:pPr algn="l">
              <a:defRPr sz="1350" b="0">
                <a:solidFill>
                  <a:srgbClr val="F2F6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F2F6FC"/>
                </a:solidFill>
                <a:latin typeface="Microsoft YaHei"/>
                <a:ea typeface="Microsoft YaHei"/>
                <a:cs typeface="Microsoft YaHei"/>
              </a:rPr>
              <a:t>启用降低拒绝限制的模型能力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F43BA30-1434-411B-A38C-43B2B72DF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276475"/>
            <a:ext cx="3238500" cy="1809750"/>
          </a:xfrm>
          <a:prstGeom xmlns:a="http://schemas.openxmlformats.org/drawingml/2006/main" prst="roundRect">
            <a:avLst>
              <a:gd name="adj" fmla="val 9474"/>
            </a:avLst>
          </a:prstGeom>
          <a:solidFill xmlns:a="http://schemas.openxmlformats.org/drawingml/2006/main">
            <a:srgbClr val="101D2D"/>
          </a:solidFill>
          <a:ln xmlns:a="http://schemas.openxmlformats.org/drawingml/2006/main" w="9525">
            <a:solidFill>
              <a:srgbClr val="29415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317E386-EBF3-4944-93EE-AA51F7EEE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276475"/>
            <a:ext cx="47625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8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F738365-F1C6-469B-9620-60B9277E3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447925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FC8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FFC857"/>
                </a:solidFill>
                <a:latin typeface="Microsoft YaHei"/>
                <a:ea typeface="Microsoft YaHei"/>
                <a:cs typeface="Microsoft YaHei"/>
              </a:rPr>
              <a:t>边界失效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B138E74-B6B6-4B0B-B1A4-041A43E8F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828925"/>
            <a:ext cx="28194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2F6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F2F6FC"/>
                </a:solidFill>
                <a:latin typeface="Microsoft YaHei"/>
                <a:ea typeface="Microsoft YaHei"/>
                <a:cs typeface="Microsoft YaHei"/>
              </a:rPr>
              <a:t>agent 利用软件供应链代理中的漏洞</a:t>
            </a:r>
          </a:p>
          <a:p xmlns:a="http://schemas.openxmlformats.org/drawingml/2006/main">
            <a:pPr algn="l">
              <a:defRPr sz="1350" b="0">
                <a:solidFill>
                  <a:srgbClr val="F2F6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F2F6FC"/>
                </a:solidFill>
                <a:latin typeface="Microsoft YaHei"/>
                <a:ea typeface="Microsoft YaHei"/>
                <a:cs typeface="Microsoft YaHei"/>
              </a:rPr>
              <a:t>取得外网访问并串联攻击步骤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12A7CF9-B78A-48C1-853B-52282A846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276475"/>
            <a:ext cx="3238500" cy="1809750"/>
          </a:xfrm>
          <a:prstGeom xmlns:a="http://schemas.openxmlformats.org/drawingml/2006/main" prst="roundRect">
            <a:avLst>
              <a:gd name="adj" fmla="val 9474"/>
            </a:avLst>
          </a:prstGeom>
          <a:solidFill xmlns:a="http://schemas.openxmlformats.org/drawingml/2006/main">
            <a:srgbClr val="101D2D"/>
          </a:solidFill>
          <a:ln xmlns:a="http://schemas.openxmlformats.org/drawingml/2006/main" w="9525">
            <a:solidFill>
              <a:srgbClr val="29415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90B797E-4A7E-4D66-A376-254764380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276475"/>
            <a:ext cx="47625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9D8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B6C2B90-878E-4FAF-B59E-9C4B30895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447925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59D8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59D8E8"/>
                </a:solidFill>
                <a:latin typeface="Microsoft YaHei"/>
                <a:ea typeface="Microsoft YaHei"/>
                <a:cs typeface="Microsoft YaHei"/>
              </a:rPr>
              <a:t>处置结果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51630B2-BF1F-49AB-BC75-1A3EB50A0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828925"/>
            <a:ext cx="28194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2F6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F2F6FC"/>
                </a:solidFill>
                <a:latin typeface="Microsoft YaHei"/>
                <a:ea typeface="Microsoft YaHei"/>
                <a:cs typeface="Microsoft YaHei"/>
              </a:rPr>
              <a:t>Hugging Face 检测并遏制</a:t>
            </a:r>
          </a:p>
          <a:p xmlns:a="http://schemas.openxmlformats.org/drawingml/2006/main">
            <a:pPr algn="l">
              <a:defRPr sz="1350" b="0">
                <a:solidFill>
                  <a:srgbClr val="F2F6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F2F6FC"/>
                </a:solidFill>
                <a:latin typeface="Microsoft YaHei"/>
                <a:ea typeface="Microsoft YaHei"/>
                <a:cs typeface="Microsoft YaHei"/>
              </a:rPr>
              <a:t>披露称 5 个挑战/解答相关数据集被访问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7421AAA-1122-4F12-BA4D-6164FCE26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448175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59D8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59D8E8"/>
                </a:solidFill>
                <a:latin typeface="Microsoft YaHei"/>
                <a:ea typeface="Microsoft YaHei"/>
                <a:cs typeface="Microsoft YaHei"/>
              </a:rPr>
              <a:t>对保险机构的启示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0D1F857-8A70-4A37-8C0C-557EE0A57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838700"/>
            <a:ext cx="10191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2F6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2F6FC"/>
                </a:solidFill>
                <a:latin typeface="Microsoft YaHei"/>
                <a:ea typeface="Microsoft YaHei"/>
                <a:cs typeface="Microsoft YaHei"/>
              </a:rPr>
              <a:t>模型输出不是唯一风险面：工具权限、依赖来源、网络边界和业务连续性都需要被验证。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83327E0-A152-43AE-973C-3B892FCF9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619750"/>
            <a:ext cx="10287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A8B6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A8B6C8"/>
                </a:solidFill>
                <a:latin typeface="Microsoft YaHei"/>
                <a:ea typeface="Microsoft YaHei"/>
                <a:cs typeface="Microsoft YaHei"/>
              </a:rPr>
              <a:t>注：不是“OpenAI 主动攻击 Hugging Face”；事件发生于内部评测，Hugging Face 称其他面向客户的模型、数据集、Space 与 package 未受影响。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00292A5-853D-4605-A588-00604FB6C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36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3733AD8-73BD-4BC0-BEF3-A9982E7AA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86525"/>
            <a:ext cx="809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A8B6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A8B6C8"/>
                </a:solidFill>
                <a:latin typeface="Microsoft YaHei"/>
                <a:ea typeface="Microsoft YaHei"/>
                <a:cs typeface="Microsoft YaHei"/>
              </a:rPr>
              <a:t>AEGIS · DGX SPARK HACKATHON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21F2CA8-7E01-4503-A9E7-96A2D3761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57950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59D8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59D8E8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48942288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8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1DCA0FB-85F3-4A8E-80CC-FE053E72A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477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9D8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59D8E8"/>
                </a:solidFill>
                <a:latin typeface="Microsoft YaHei"/>
                <a:ea typeface="Microsoft YaHei"/>
                <a:cs typeface="Microsoft YaHei"/>
              </a:rPr>
              <a:t>业务场景 · 保险机构的安全假设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452A9C9-8C04-44EA-90E0-04C11F87A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2F6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F2F6FC"/>
                </a:solidFill>
                <a:latin typeface="Microsoft YaHei"/>
                <a:ea typeface="Microsoft YaHei"/>
                <a:cs typeface="Microsoft YaHei"/>
              </a:rPr>
              <a:t>保险业务对“可控、可恢复、可审计”要求更高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5C79EA0-E44E-485A-A2AC-CF7AC45A0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09700"/>
            <a:ext cx="10382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7826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2F6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F2F6FC"/>
                </a:solidFill>
                <a:latin typeface="Microsoft YaHei"/>
                <a:ea typeface="Microsoft YaHei"/>
                <a:cs typeface="Microsoft YaHei"/>
              </a:rPr>
              <a:t>保单、理赔、核保和客服流程都依赖身份、数据与第三方系统。一次输入漏洞可能同时影响资金、隐私和服务连续性。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18B51C-611E-4FB1-AF1C-C387FBBD1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71750"/>
            <a:ext cx="2190750" cy="1066800"/>
          </a:xfrm>
          <a:prstGeom xmlns:a="http://schemas.openxmlformats.org/drawingml/2006/main" prst="roundRect">
            <a:avLst>
              <a:gd name="adj" fmla="val 16071"/>
            </a:avLst>
          </a:prstGeom>
          <a:solidFill xmlns:a="http://schemas.openxmlformats.org/drawingml/2006/main">
            <a:srgbClr val="14263A"/>
          </a:solidFill>
          <a:ln xmlns:a="http://schemas.openxmlformats.org/drawingml/2006/main" w="9525">
            <a:solidFill>
              <a:srgbClr val="29415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25757CF-7ACE-4417-B630-CDF8D79AA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724150"/>
            <a:ext cx="18478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59D8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59D8E8"/>
                </a:solidFill>
                <a:latin typeface="Microsoft YaHei"/>
                <a:ea typeface="Microsoft YaHei"/>
                <a:cs typeface="Microsoft YaHei"/>
              </a:rPr>
              <a:t>客户入口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3F79B3B-A6EB-48A0-AA5C-72D577E4C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133725"/>
            <a:ext cx="1847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F2F6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F2F6FC"/>
                </a:solidFill>
                <a:latin typeface="Microsoft YaHei"/>
                <a:ea typeface="Microsoft YaHei"/>
                <a:cs typeface="Microsoft YaHei"/>
              </a:rPr>
              <a:t>身份 / 会话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6B96872-23FB-4972-8062-0E15BFD6B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2886075"/>
            <a:ext cx="438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A8B6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A8B6C8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CBE9FB8-5543-4ED4-8D02-D798983DD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5675" y="2571750"/>
            <a:ext cx="2190750" cy="1066800"/>
          </a:xfrm>
          <a:prstGeom xmlns:a="http://schemas.openxmlformats.org/drawingml/2006/main" prst="roundRect">
            <a:avLst>
              <a:gd name="adj" fmla="val 16071"/>
            </a:avLst>
          </a:prstGeom>
          <a:solidFill xmlns:a="http://schemas.openxmlformats.org/drawingml/2006/main">
            <a:srgbClr val="14263A"/>
          </a:solidFill>
          <a:ln xmlns:a="http://schemas.openxmlformats.org/drawingml/2006/main" w="9525">
            <a:solidFill>
              <a:srgbClr val="29415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F3FB24-D18D-4B87-95F0-12828E91F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2724150"/>
            <a:ext cx="18478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59D8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59D8E8"/>
                </a:solidFill>
                <a:latin typeface="Microsoft YaHei"/>
                <a:ea typeface="Microsoft YaHei"/>
                <a:cs typeface="Microsoft YaHei"/>
              </a:rPr>
              <a:t>业务 API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5528356-FBEA-4B06-8C59-35B5F104F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3133725"/>
            <a:ext cx="1847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F2F6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F2F6FC"/>
                </a:solidFill>
                <a:latin typeface="Microsoft YaHei"/>
                <a:ea typeface="Microsoft YaHei"/>
                <a:cs typeface="Microsoft YaHei"/>
              </a:rPr>
              <a:t>保单 / 理赔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E4AD7DD-F20D-40A0-8A8F-8CD78BB9A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2886075"/>
            <a:ext cx="438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A8B6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A8B6C8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4B4A665-67E0-45CA-9221-6384D8221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571750"/>
            <a:ext cx="2190750" cy="1066800"/>
          </a:xfrm>
          <a:prstGeom xmlns:a="http://schemas.openxmlformats.org/drawingml/2006/main" prst="roundRect">
            <a:avLst>
              <a:gd name="adj" fmla="val 16071"/>
            </a:avLst>
          </a:prstGeom>
          <a:solidFill xmlns:a="http://schemas.openxmlformats.org/drawingml/2006/main">
            <a:srgbClr val="14263A"/>
          </a:solidFill>
          <a:ln xmlns:a="http://schemas.openxmlformats.org/drawingml/2006/main" w="9525">
            <a:solidFill>
              <a:srgbClr val="29415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3FD7131-24A6-4F00-9EA8-D163AD529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724150"/>
            <a:ext cx="18478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C8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FFC857"/>
                </a:solidFill>
                <a:latin typeface="Microsoft YaHei"/>
                <a:ea typeface="Microsoft YaHei"/>
                <a:cs typeface="Microsoft YaHei"/>
              </a:rPr>
              <a:t>模型与工具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DE1A121-4DBC-4A78-8DCF-6398A929F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133725"/>
            <a:ext cx="1847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F2F6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F2F6FC"/>
                </a:solidFill>
                <a:latin typeface="Microsoft YaHei"/>
                <a:ea typeface="Microsoft YaHei"/>
                <a:cs typeface="Microsoft YaHei"/>
              </a:rPr>
              <a:t>检索 / 自动化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8A157D0-1794-425D-9F11-8840BB130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2886075"/>
            <a:ext cx="438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A8B6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A8B6C8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11AA676-9A73-41CE-935B-44C8AAB0B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9225" y="2571750"/>
            <a:ext cx="2190750" cy="1066800"/>
          </a:xfrm>
          <a:prstGeom xmlns:a="http://schemas.openxmlformats.org/drawingml/2006/main" prst="roundRect">
            <a:avLst>
              <a:gd name="adj" fmla="val 16071"/>
            </a:avLst>
          </a:prstGeom>
          <a:solidFill xmlns:a="http://schemas.openxmlformats.org/drawingml/2006/main">
            <a:srgbClr val="14263A"/>
          </a:solidFill>
          <a:ln xmlns:a="http://schemas.openxmlformats.org/drawingml/2006/main" w="9525">
            <a:solidFill>
              <a:srgbClr val="29415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3E78B55-37F3-41AA-8C6B-AE4B05D2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0675" y="2724150"/>
            <a:ext cx="18478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59D8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59D8E8"/>
                </a:solidFill>
                <a:latin typeface="Microsoft YaHei"/>
                <a:ea typeface="Microsoft YaHei"/>
                <a:cs typeface="Microsoft YaHei"/>
              </a:rPr>
              <a:t>核心数据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B73F58A-7738-41C2-9A25-C8565CE9A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0675" y="3133725"/>
            <a:ext cx="1847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F2F6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F2F6FC"/>
                </a:solidFill>
                <a:latin typeface="Microsoft YaHei"/>
                <a:ea typeface="Microsoft YaHei"/>
                <a:cs typeface="Microsoft YaHei"/>
              </a:rPr>
              <a:t>隐私 / 资金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F808ACA-60F5-48D8-84D3-6718AB751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43375"/>
            <a:ext cx="3238500" cy="142875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101D2D"/>
          </a:solidFill>
          <a:ln xmlns:a="http://schemas.openxmlformats.org/drawingml/2006/main" w="9525">
            <a:solidFill>
              <a:srgbClr val="29415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129A71C-16A0-4846-A346-F14B9AC90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43375"/>
            <a:ext cx="47625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6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27F80C2-2609-4BCB-A94F-86C297958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314825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F6B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FF6B6B"/>
                </a:solidFill>
                <a:latin typeface="Microsoft YaHei"/>
                <a:ea typeface="Microsoft YaHei"/>
                <a:cs typeface="Microsoft YaHei"/>
              </a:rPr>
              <a:t>我们要回答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82E5D8E-F550-45A4-BECF-E66B296BE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695825"/>
            <a:ext cx="2819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2F6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F2F6FC"/>
                </a:solidFill>
                <a:latin typeface="Microsoft YaHei"/>
                <a:ea typeface="Microsoft YaHei"/>
                <a:cs typeface="Microsoft YaHei"/>
              </a:rPr>
              <a:t>攻击是否真的触达业务？</a:t>
            </a:r>
          </a:p>
          <a:p xmlns:a="http://schemas.openxmlformats.org/drawingml/2006/main">
            <a:pPr algn="l">
              <a:defRPr sz="1350" b="0">
                <a:solidFill>
                  <a:srgbClr val="F2F6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F2F6FC"/>
                </a:solidFill>
                <a:latin typeface="Microsoft YaHei"/>
                <a:ea typeface="Microsoft YaHei"/>
                <a:cs typeface="Microsoft YaHei"/>
              </a:rPr>
              <a:t>修补后正常业务是否仍可用？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6B1A2EA-4FB9-4547-8F0C-5053355D9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143375"/>
            <a:ext cx="3238500" cy="142875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101D2D"/>
          </a:solidFill>
          <a:ln xmlns:a="http://schemas.openxmlformats.org/drawingml/2006/main" w="9525">
            <a:solidFill>
              <a:srgbClr val="29415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DED707C-E4BD-428F-B243-89B956699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143375"/>
            <a:ext cx="47625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9D8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959F2F6-283A-4120-88CE-B48D61439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4314825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59D8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59D8E8"/>
                </a:solidFill>
                <a:latin typeface="Microsoft YaHei"/>
                <a:ea typeface="Microsoft YaHei"/>
                <a:cs typeface="Microsoft YaHei"/>
              </a:rPr>
              <a:t>评委能核验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DD8E272-D3DB-4C40-804A-CE8F1FFF9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4695825"/>
            <a:ext cx="2819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2F6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F2F6FC"/>
                </a:solidFill>
                <a:latin typeface="Microsoft YaHei"/>
                <a:ea typeface="Microsoft YaHei"/>
                <a:cs typeface="Microsoft YaHei"/>
              </a:rPr>
              <a:t>补丁是否就是通过评审的候选？</a:t>
            </a:r>
          </a:p>
          <a:p xmlns:a="http://schemas.openxmlformats.org/drawingml/2006/main">
            <a:pPr algn="l">
              <a:defRPr sz="1350" b="0">
                <a:solidFill>
                  <a:srgbClr val="F2F6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F2F6FC"/>
                </a:solidFill>
                <a:latin typeface="Microsoft YaHei"/>
                <a:ea typeface="Microsoft YaHei"/>
                <a:cs typeface="Microsoft YaHei"/>
              </a:rPr>
              <a:t>同一攻击复测是否被阻断？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3B7FA99-BABF-4B46-BF1C-51F029C0E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143375"/>
            <a:ext cx="3238500" cy="142875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101D2D"/>
          </a:solidFill>
          <a:ln xmlns:a="http://schemas.openxmlformats.org/drawingml/2006/main" w="9525">
            <a:solidFill>
              <a:srgbClr val="29415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6E648A5-BFC3-4621-91CA-8B03E417D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143375"/>
            <a:ext cx="47625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3D6A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6B07742-1DA6-40AF-9AAA-79E86B2CA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4314825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63D6A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63D6A1"/>
                </a:solidFill>
                <a:latin typeface="Microsoft YaHei"/>
                <a:ea typeface="Microsoft YaHei"/>
                <a:cs typeface="Microsoft YaHei"/>
              </a:rPr>
              <a:t>运营可追踪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AC8EADA-40B4-4A5D-B16E-BAA1B8CFB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4695825"/>
            <a:ext cx="2819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2F6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F2F6FC"/>
                </a:solidFill>
                <a:latin typeface="Microsoft YaHei"/>
                <a:ea typeface="Microsoft YaHei"/>
                <a:cs typeface="Microsoft YaHei"/>
              </a:rPr>
              <a:t>运行编号、事件、测试、恢复哈希</a:t>
            </a:r>
          </a:p>
          <a:p xmlns:a="http://schemas.openxmlformats.org/drawingml/2006/main">
            <a:pPr algn="l">
              <a:defRPr sz="1350" b="0">
                <a:solidFill>
                  <a:srgbClr val="F2F6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F2F6FC"/>
                </a:solidFill>
                <a:latin typeface="Microsoft YaHei"/>
                <a:ea typeface="Microsoft YaHei"/>
                <a:cs typeface="Microsoft YaHei"/>
              </a:rPr>
              <a:t>是否串成一条审计证据链？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EBD72B6-DACC-4733-87AC-99E2FBA4C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810250"/>
            <a:ext cx="10382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A8B6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A8B6C8"/>
                </a:solidFill>
                <a:latin typeface="Microsoft YaHei"/>
                <a:ea typeface="Microsoft YaHei"/>
                <a:cs typeface="Microsoft YaHei"/>
              </a:rPr>
              <a:t>此处为保险业务风险建模示例，不代表具体保险机构已发生事件或合规结论。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590599B-7EE1-429F-9F6C-060651CD2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36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5BDF843-C064-491D-9A2F-7260C0936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86525"/>
            <a:ext cx="809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A8B6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A8B6C8"/>
                </a:solidFill>
                <a:latin typeface="Microsoft YaHei"/>
                <a:ea typeface="Microsoft YaHei"/>
                <a:cs typeface="Microsoft YaHei"/>
              </a:rPr>
              <a:t>AEGIS · DGX SPARK HACKATHON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A5023B0-D53F-40BA-B718-305865205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57950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59D8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59D8E8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85608026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8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3FF9373-8DB5-400C-9086-8A4474019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477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9D8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59D8E8"/>
                </a:solidFill>
                <a:latin typeface="Microsoft YaHei"/>
                <a:ea typeface="Microsoft YaHei"/>
                <a:cs typeface="Microsoft YaHei"/>
              </a:rPr>
              <a:t>系统结构 · 不是“前端在调用一堆服务”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4139A6-20A3-4551-8938-13CDC5722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2F6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F2F6FC"/>
                </a:solidFill>
                <a:latin typeface="Microsoft YaHei"/>
                <a:ea typeface="Microsoft YaHei"/>
                <a:cs typeface="Microsoft YaHei"/>
              </a:rPr>
              <a:t>主闭环由 FastAPI 入口启动，由 DemoCase 编排推进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C31E42-4427-4CB1-A10C-CC43E600E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905000"/>
            <a:ext cx="2000250" cy="1285875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101D2D"/>
          </a:solidFill>
          <a:ln xmlns:a="http://schemas.openxmlformats.org/drawingml/2006/main" w="9525">
            <a:solidFill>
              <a:srgbClr val="29415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B708A70-A07E-46A6-B432-5635B2E2E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2095500"/>
            <a:ext cx="17335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2F6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2F6FC"/>
                </a:solidFill>
                <a:latin typeface="Microsoft YaHei"/>
                <a:ea typeface="Microsoft YaHei"/>
                <a:cs typeface="Microsoft YaHei"/>
              </a:rPr>
              <a:t>浏览器 /demo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1C7A0E-B49E-49B8-A42E-FA2AED682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2543175"/>
            <a:ext cx="17716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A8B6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A8B6C8"/>
                </a:solidFill>
                <a:latin typeface="Microsoft YaHei"/>
                <a:ea typeface="Microsoft YaHei"/>
                <a:cs typeface="Microsoft YaHei"/>
              </a:rPr>
              <a:t>评委可见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6F5F77-D862-4AD4-8ED0-D86D51EB0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2276475"/>
            <a:ext cx="285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59D8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59D8E8"/>
                </a:solidFill>
                <a:latin typeface="Microsoft YaHei"/>
                <a:ea typeface="Microsoft YaHei"/>
                <a:cs typeface="Microsoft YaHei"/>
              </a:rPr>
              <a:t>›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9EB6C08-4588-4D69-BD36-7569A552B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7975" y="1905000"/>
            <a:ext cx="2000250" cy="1285875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101D2D"/>
          </a:solidFill>
          <a:ln xmlns:a="http://schemas.openxmlformats.org/drawingml/2006/main" w="9525">
            <a:solidFill>
              <a:srgbClr val="29415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EFA2B3-1711-473C-9868-833F3A7E2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2095500"/>
            <a:ext cx="17335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2F6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2F6FC"/>
                </a:solidFill>
                <a:latin typeface="Microsoft YaHei"/>
                <a:ea typeface="Microsoft YaHei"/>
                <a:cs typeface="Microsoft YaHei"/>
              </a:rPr>
              <a:t>FastAPI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519E479-AD63-45C0-B91B-807257FF5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2543175"/>
            <a:ext cx="17716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A8B6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A8B6C8"/>
                </a:solidFill>
                <a:latin typeface="Microsoft YaHei"/>
                <a:ea typeface="Microsoft YaHei"/>
                <a:cs typeface="Microsoft YaHei"/>
              </a:rPr>
              <a:t>创建 run</a:t>
            </a:r>
          </a:p>
          <a:p xmlns:a="http://schemas.openxmlformats.org/drawingml/2006/main">
            <a:pPr algn="ctr">
              <a:defRPr sz="1275" b="0">
                <a:solidFill>
                  <a:srgbClr val="A8B6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A8B6C8"/>
                </a:solidFill>
                <a:latin typeface="Microsoft YaHei"/>
                <a:ea typeface="Microsoft YaHei"/>
                <a:cs typeface="Microsoft YaHei"/>
              </a:rPr>
              <a:t>统一运行编号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28E0800-9B87-420F-A1B3-9A7EE0CB9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276475"/>
            <a:ext cx="285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59D8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59D8E8"/>
                </a:solidFill>
                <a:latin typeface="Microsoft YaHei"/>
                <a:ea typeface="Microsoft YaHei"/>
                <a:cs typeface="Microsoft YaHei"/>
              </a:rPr>
              <a:t>›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69A392E-D9E2-4DA1-82AC-042D66ED7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2075" y="1905000"/>
            <a:ext cx="2000250" cy="1285875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18344A"/>
          </a:solidFill>
          <a:ln xmlns:a="http://schemas.openxmlformats.org/drawingml/2006/main" w="9525">
            <a:solidFill>
              <a:srgbClr val="29415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682EA71-D8B3-4A08-8006-B956A44B1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5425" y="2095500"/>
            <a:ext cx="17335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59D8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59D8E8"/>
                </a:solidFill>
                <a:latin typeface="Microsoft YaHei"/>
                <a:ea typeface="Microsoft YaHei"/>
                <a:cs typeface="Microsoft YaHei"/>
              </a:rPr>
              <a:t>DemoCase 编排器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CB5C54C-EF5B-4DBA-B52C-C2D1621BC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2543175"/>
            <a:ext cx="17716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A8B6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A8B6C8"/>
                </a:solidFill>
                <a:latin typeface="Microsoft YaHei"/>
                <a:ea typeface="Microsoft YaHei"/>
                <a:cs typeface="Microsoft YaHei"/>
              </a:rPr>
              <a:t>按阶段推进</a:t>
            </a:r>
          </a:p>
          <a:p xmlns:a="http://schemas.openxmlformats.org/drawingml/2006/main">
            <a:pPr algn="ctr">
              <a:defRPr sz="1275" b="0">
                <a:solidFill>
                  <a:srgbClr val="A8B6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A8B6C8"/>
                </a:solidFill>
                <a:latin typeface="Microsoft YaHei"/>
                <a:ea typeface="Microsoft YaHei"/>
                <a:cs typeface="Microsoft YaHei"/>
              </a:rPr>
              <a:t>写事件台账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B1D1C4A-7CB1-4D88-BA05-3B3CAA5AA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2276475"/>
            <a:ext cx="285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59D8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59D8E8"/>
                </a:solidFill>
                <a:latin typeface="Microsoft YaHei"/>
                <a:ea typeface="Microsoft YaHei"/>
                <a:cs typeface="Microsoft YaHei"/>
              </a:rPr>
              <a:t>›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D3C058D-E041-4C5B-BFAE-5F80DD369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6175" y="1905000"/>
            <a:ext cx="2000250" cy="1285875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101D2D"/>
          </a:solidFill>
          <a:ln xmlns:a="http://schemas.openxmlformats.org/drawingml/2006/main" w="9525">
            <a:solidFill>
              <a:srgbClr val="29415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E4AECEB-0F8A-4B67-903A-21F02DDD1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9525" y="2095500"/>
            <a:ext cx="17335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2F6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2F6FC"/>
                </a:solidFill>
                <a:latin typeface="Microsoft YaHei"/>
                <a:ea typeface="Microsoft YaHei"/>
                <a:cs typeface="Microsoft YaHei"/>
              </a:rPr>
              <a:t>工具与模型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F08AA4E-CDB7-4E30-A7AC-AED3D0E68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2543175"/>
            <a:ext cx="17716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A8B6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A8B6C8"/>
                </a:solidFill>
                <a:latin typeface="Microsoft YaHei"/>
                <a:ea typeface="Microsoft YaHei"/>
                <a:cs typeface="Microsoft YaHei"/>
              </a:rPr>
              <a:t>红方 / 蓝方 / JEV</a:t>
            </a:r>
          </a:p>
          <a:p xmlns:a="http://schemas.openxmlformats.org/drawingml/2006/main">
            <a:pPr algn="ctr">
              <a:defRPr sz="1275" b="0">
                <a:solidFill>
                  <a:srgbClr val="A8B6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A8B6C8"/>
                </a:solidFill>
                <a:latin typeface="Microsoft YaHei"/>
                <a:ea typeface="Microsoft YaHei"/>
                <a:cs typeface="Microsoft YaHei"/>
              </a:rPr>
              <a:t>补丁 / 三道门禁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D8ABAF4-1C12-4E69-AF3F-31FE42D23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276475"/>
            <a:ext cx="285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59D8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59D8E8"/>
                </a:solidFill>
                <a:latin typeface="Microsoft YaHei"/>
                <a:ea typeface="Microsoft YaHei"/>
                <a:cs typeface="Microsoft YaHei"/>
              </a:rPr>
              <a:t>›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0D26272-2B79-4310-944A-96C061BE6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0275" y="1905000"/>
            <a:ext cx="2000250" cy="1285875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101D2D"/>
          </a:solidFill>
          <a:ln xmlns:a="http://schemas.openxmlformats.org/drawingml/2006/main" w="9525">
            <a:solidFill>
              <a:srgbClr val="29415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39DE2DB-DE50-4227-81B8-67BE87DC7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2095500"/>
            <a:ext cx="17335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2F6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2F6FC"/>
                </a:solidFill>
                <a:latin typeface="Microsoft YaHei"/>
                <a:ea typeface="Microsoft YaHei"/>
                <a:cs typeface="Microsoft YaHei"/>
              </a:rPr>
              <a:t>验证与恢复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9268C70-1E4B-408B-B04D-DDEADA9A4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4575" y="2543175"/>
            <a:ext cx="17716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A8B6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A8B6C8"/>
                </a:solidFill>
                <a:latin typeface="Microsoft YaHei"/>
                <a:ea typeface="Microsoft YaHei"/>
                <a:cs typeface="Microsoft YaHei"/>
              </a:rPr>
              <a:t>重放 / 业务测试</a:t>
            </a:r>
          </a:p>
          <a:p xmlns:a="http://schemas.openxmlformats.org/drawingml/2006/main">
            <a:pPr algn="ctr">
              <a:defRPr sz="1275" b="0">
                <a:solidFill>
                  <a:srgbClr val="A8B6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A8B6C8"/>
                </a:solidFill>
                <a:latin typeface="Microsoft YaHei"/>
                <a:ea typeface="Microsoft YaHei"/>
                <a:cs typeface="Microsoft YaHei"/>
              </a:rPr>
              <a:t>清理 / 收据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F3B6E0F-CD86-409C-9A11-C4ACBCCD9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657600"/>
            <a:ext cx="133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C8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C857"/>
                </a:solidFill>
                <a:latin typeface="Microsoft YaHei"/>
                <a:ea typeface="Microsoft YaHei"/>
                <a:cs typeface="Microsoft YaHei"/>
              </a:rPr>
              <a:t>执行层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4354262-2213-44D4-864A-0780A3EBD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00500"/>
            <a:ext cx="108108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536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755E1AE-6F55-40EB-8F2A-AD39E6A17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219575"/>
            <a:ext cx="10382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2F6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2F6FC"/>
                </a:solidFill>
                <a:latin typeface="Microsoft YaHei"/>
                <a:ea typeface="Microsoft YaHei"/>
                <a:cs typeface="Microsoft YaHei"/>
              </a:rPr>
              <a:t>DGX Spark 本地 Qwen 负责补丁候选；JEV v3 在 GB10 上推理。StepFun 仅做候选 diff 的异构复核。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E5895FA-DC6A-426D-8E57-1417F51A3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000625"/>
            <a:ext cx="10896600" cy="857250"/>
          </a:xfrm>
          <a:prstGeom xmlns:a="http://schemas.openxmlformats.org/drawingml/2006/main" prst="roundRect">
            <a:avLst>
              <a:gd name="adj" fmla="val 15556"/>
            </a:avLst>
          </a:prstGeom>
          <a:solidFill xmlns:a="http://schemas.openxmlformats.org/drawingml/2006/main">
            <a:srgbClr val="0E1A29"/>
          </a:solidFill>
          <a:ln xmlns:a="http://schemas.openxmlformats.org/drawingml/2006/main" w="9525">
            <a:solidFill>
              <a:srgbClr val="29415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9A4E169-D404-4CC1-9F73-D343E5098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191125"/>
            <a:ext cx="10429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59D8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59D8E8"/>
                </a:solidFill>
                <a:latin typeface="Microsoft YaHei"/>
                <a:ea typeface="Microsoft YaHei"/>
                <a:cs typeface="Microsoft YaHei"/>
              </a:rPr>
              <a:t>Skills 是可复用的代理工作流入口；当前主演示链仍由 /demo → FastAPI → DemoCase 驱动。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EE4A782-A603-4D04-80DE-9C4C6AD94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36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81E1A36-E489-44F8-93BB-9BB120407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86525"/>
            <a:ext cx="809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A8B6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A8B6C8"/>
                </a:solidFill>
                <a:latin typeface="Microsoft YaHei"/>
                <a:ea typeface="Microsoft YaHei"/>
                <a:cs typeface="Microsoft YaHei"/>
              </a:rPr>
              <a:t>AEGIS · DGX SPARK HACKATHON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87AB585-C546-4A3F-B7B1-E379C62A6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57950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59D8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59D8E8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88878413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8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4EFB3EE-603D-4E08-9B54-2D31FA165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477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9D8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59D8E8"/>
                </a:solidFill>
                <a:latin typeface="Microsoft YaHei"/>
                <a:ea typeface="Microsoft YaHei"/>
                <a:cs typeface="Microsoft YaHei"/>
              </a:rPr>
              <a:t>DGX SPARK 主演示 · RUN-20260927-140612-399B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D461D0D-1DB0-4247-8E5C-6B70A171F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2F6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F2F6FC"/>
                </a:solidFill>
                <a:latin typeface="Microsoft YaHei"/>
                <a:ea typeface="Microsoft YaHei"/>
                <a:cs typeface="Microsoft YaHei"/>
              </a:rPr>
              <a:t>一次运行，留下“攻击成功 → 修补验证 → 环境恢复”证据</a:t>
            </a:r>
          </a:p>
        </p:txBody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9cd74d934e24481"/>
          <a:stretch xmlns:a="http://schemas.openxmlformats.org/drawingml/2006/main"/>
        </p:blipFill>
        <p:spPr>
          <a:xfrm xmlns:a="http://schemas.openxmlformats.org/drawingml/2006/main">
            <a:off x="609600" y="1626989"/>
            <a:ext cx="6610350" cy="3718322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FEBFDD-69E6-4B98-B692-B828D3C02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1428750"/>
            <a:ext cx="4114800" cy="411480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101D2D"/>
          </a:solidFill>
          <a:ln xmlns:a="http://schemas.openxmlformats.org/drawingml/2006/main" w="9525">
            <a:solidFill>
              <a:srgbClr val="29415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9BAFD24-3234-4101-8157-42329D3DE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17335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6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FBB77C-E2EE-43C5-BA9E-9FF9215D7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163830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A8B6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A8B6C8"/>
                </a:solidFill>
                <a:latin typeface="Microsoft YaHei"/>
                <a:ea typeface="Microsoft YaHei"/>
                <a:cs typeface="Microsoft YaHei"/>
              </a:rPr>
              <a:t>攻击前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851375-C92E-49B1-AC94-9F694F787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1638300"/>
            <a:ext cx="24003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2F6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2F6FC"/>
                </a:solidFill>
                <a:latin typeface="Microsoft YaHei"/>
                <a:ea typeface="Microsoft YaHei"/>
                <a:cs typeface="Microsoft YaHei"/>
              </a:rPr>
              <a:t>SQLi marker 命中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503F0C2-8ABD-4E2A-94F3-DC36E14AF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4574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9D8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FC0FC08-6FF2-4CC2-A28F-6EB6645A4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36220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A8B6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A8B6C8"/>
                </a:solidFill>
                <a:latin typeface="Microsoft YaHei"/>
                <a:ea typeface="Microsoft YaHei"/>
                <a:cs typeface="Microsoft YaHei"/>
              </a:rPr>
              <a:t>门禁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8706695-BC86-4DEF-B6B5-5C0B2F44C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2362200"/>
            <a:ext cx="24003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2F6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2F6FC"/>
                </a:solidFill>
                <a:latin typeface="Microsoft YaHei"/>
                <a:ea typeface="Microsoft YaHei"/>
                <a:cs typeface="Microsoft YaHei"/>
              </a:rPr>
              <a:t>3 项 PASS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C213C17-9231-4B22-A062-8EFB59B62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1813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3D6A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90612F0-0316-470C-8185-E3C9449E7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08610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A8B6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A8B6C8"/>
                </a:solidFill>
                <a:latin typeface="Microsoft YaHei"/>
                <a:ea typeface="Microsoft YaHei"/>
                <a:cs typeface="Microsoft YaHei"/>
              </a:rPr>
              <a:t>修补后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24FE995-BFE6-4AF3-943E-CD84E3674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3086100"/>
            <a:ext cx="24003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2F6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2F6FC"/>
                </a:solidFill>
                <a:latin typeface="Microsoft YaHei"/>
                <a:ea typeface="Microsoft YaHei"/>
                <a:cs typeface="Microsoft YaHei"/>
              </a:rPr>
              <a:t>重放 0 / 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D3B9D94-DED5-4CE4-81DB-186ED3F0C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9052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3D6A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0B4BCA9-C817-4837-85B8-16F44332F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81000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A8B6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A8B6C8"/>
                </a:solidFill>
                <a:latin typeface="Microsoft YaHei"/>
                <a:ea typeface="Microsoft YaHei"/>
                <a:cs typeface="Microsoft YaHei"/>
              </a:rPr>
              <a:t>业务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54BEA8A-8C9E-4CFC-8D3B-58E2B6237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3810000"/>
            <a:ext cx="24003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2F6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2F6FC"/>
                </a:solidFill>
                <a:latin typeface="Microsoft YaHei"/>
                <a:ea typeface="Microsoft YaHei"/>
                <a:cs typeface="Microsoft YaHei"/>
              </a:rPr>
              <a:t>正常断言 + 11 tests PASS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F476949-1C13-45F4-B6FF-60AA9F89D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46291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F6F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D47B33B-3F27-4618-A969-E84D77280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53390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A8B6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A8B6C8"/>
                </a:solidFill>
                <a:latin typeface="Microsoft YaHei"/>
                <a:ea typeface="Microsoft YaHei"/>
                <a:cs typeface="Microsoft YaHei"/>
              </a:rPr>
              <a:t>收尾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69C8D7E-CC61-4374-B3FB-DEC284E42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4533900"/>
            <a:ext cx="24003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2F6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2F6FC"/>
                </a:solidFill>
                <a:latin typeface="Microsoft YaHei"/>
                <a:ea typeface="Microsoft YaHei"/>
                <a:cs typeface="Microsoft YaHei"/>
              </a:rPr>
              <a:t>目标恢复 / run succeeded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242CAC8-F72E-4170-958F-AD601F784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4953000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9D8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59D8E8"/>
                </a:solidFill>
                <a:latin typeface="Microsoft YaHei"/>
                <a:ea typeface="Microsoft YaHei"/>
                <a:cs typeface="Microsoft YaHei"/>
              </a:rPr>
              <a:t>同一 run ID · diff 可见 · 候选哈希 = 部署哈希 · 结束状态 verified / restored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2706BEB-7659-4EFE-A450-1B8C5AA3A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743575"/>
            <a:ext cx="10715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A8B6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A8B6C8"/>
                </a:solidFill>
                <a:latin typeface="Microsoft YaHei"/>
                <a:ea typeface="Microsoft YaHei"/>
                <a:cs typeface="Microsoft YaHei"/>
              </a:rPr>
              <a:t>演示截图取自只读回放；LIVE 连续录屏单独留存，画面不是伪装成一镜到底。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426F675-5C2C-43B7-A919-59C46C8E3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36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02BE37F-6F67-4167-B332-3C6319E5B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86525"/>
            <a:ext cx="809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A8B6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A8B6C8"/>
                </a:solidFill>
                <a:latin typeface="Microsoft YaHei"/>
                <a:ea typeface="Microsoft YaHei"/>
                <a:cs typeface="Microsoft YaHei"/>
              </a:rPr>
              <a:t>AEGIS · DGX SPARK HACKATHON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DD45955-E957-40F3-B930-2F3BAD411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57950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59D8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59D8E8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58751742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8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4705832-B203-470B-938F-E46D116B7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477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9D8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59D8E8"/>
                </a:solidFill>
                <a:latin typeface="Microsoft YaHei"/>
                <a:ea typeface="Microsoft YaHei"/>
                <a:cs typeface="Microsoft YaHei"/>
              </a:rPr>
              <a:t>RSI 的训练回环 · 数据、权重与复测证据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DBB0197-7340-4E1E-A7D3-E1F072A5A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2F6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F2F6FC"/>
                </a:solidFill>
                <a:latin typeface="Microsoft YaHei"/>
                <a:ea typeface="Microsoft YaHei"/>
                <a:cs typeface="Microsoft YaHei"/>
              </a:rPr>
              <a:t>两条反馈一起推进：代码更安全，判官有新材料可学习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6EF97FA-2F5E-4B00-A93B-4DB85BD86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924050"/>
            <a:ext cx="2400300" cy="1781175"/>
          </a:xfrm>
          <a:prstGeom xmlns:a="http://schemas.openxmlformats.org/drawingml/2006/main" prst="roundRect">
            <a:avLst>
              <a:gd name="adj" fmla="val 9626"/>
            </a:avLst>
          </a:prstGeom>
          <a:solidFill xmlns:a="http://schemas.openxmlformats.org/drawingml/2006/main">
            <a:srgbClr val="101D2D"/>
          </a:solidFill>
          <a:ln xmlns:a="http://schemas.openxmlformats.org/drawingml/2006/main" w="9525">
            <a:solidFill>
              <a:srgbClr val="29415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05739ED-C1B8-44D1-8CFE-6FCF75085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924050"/>
            <a:ext cx="47625" cy="1781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3D6A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C43F0C7-EAF9-416F-B454-3BAA1523B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095500"/>
            <a:ext cx="1981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63D6A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63D6A1"/>
                </a:solidFill>
                <a:latin typeface="Microsoft YaHei"/>
                <a:ea typeface="Microsoft YaHei"/>
                <a:cs typeface="Microsoft YaHei"/>
              </a:rPr>
              <a:t>历史对抗材料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BEDCC7-A32D-4B31-894B-87E4F791C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476500"/>
            <a:ext cx="19812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2F6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F2F6FC"/>
                </a:solidFill>
                <a:latin typeface="Microsoft YaHei"/>
                <a:ea typeface="Microsoft YaHei"/>
                <a:cs typeface="Microsoft YaHei"/>
              </a:rPr>
              <a:t>17,403 条训练样本</a:t>
            </a:r>
          </a:p>
          <a:p xmlns:a="http://schemas.openxmlformats.org/drawingml/2006/main">
            <a:pPr algn="l">
              <a:defRPr sz="1350" b="0">
                <a:solidFill>
                  <a:srgbClr val="F2F6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F2F6FC"/>
                </a:solidFill>
                <a:latin typeface="Microsoft YaHei"/>
                <a:ea typeface="Microsoft YaHei"/>
                <a:cs typeface="Microsoft YaHei"/>
              </a:rPr>
              <a:t>4,244 条 holdout</a:t>
            </a:r>
          </a:p>
          <a:p xmlns:a="http://schemas.openxmlformats.org/drawingml/2006/main">
            <a:pPr algn="l">
              <a:defRPr sz="1350" b="0">
                <a:solidFill>
                  <a:srgbClr val="F2F6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F2F6FC"/>
                </a:solidFill>
                <a:latin typeface="Microsoft YaHei"/>
                <a:ea typeface="Microsoft YaHei"/>
                <a:cs typeface="Microsoft YaHei"/>
              </a:rPr>
              <a:t>家族跨侧重叠 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B0A47F-B169-4B05-B047-DBD3B869E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2581275"/>
            <a:ext cx="3143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59D8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59D8E8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2DB969A-8800-4CB1-8DEF-F577B84D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1924050"/>
            <a:ext cx="2400300" cy="1781175"/>
          </a:xfrm>
          <a:prstGeom xmlns:a="http://schemas.openxmlformats.org/drawingml/2006/main" prst="roundRect">
            <a:avLst>
              <a:gd name="adj" fmla="val 9626"/>
            </a:avLst>
          </a:prstGeom>
          <a:solidFill xmlns:a="http://schemas.openxmlformats.org/drawingml/2006/main">
            <a:srgbClr val="101D2D"/>
          </a:solidFill>
          <a:ln xmlns:a="http://schemas.openxmlformats.org/drawingml/2006/main" w="9525">
            <a:solidFill>
              <a:srgbClr val="29415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24E6968-A3BD-414F-A1CF-0222FE73A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1924050"/>
            <a:ext cx="47625" cy="1781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9D8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2AD04C2-3D9F-4F40-B7D3-A84F69E96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095500"/>
            <a:ext cx="1981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59D8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59D8E8"/>
                </a:solidFill>
                <a:latin typeface="Microsoft YaHei"/>
                <a:ea typeface="Microsoft YaHei"/>
                <a:cs typeface="Microsoft YaHei"/>
              </a:rPr>
              <a:t>JEV v3 已训练部署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7693FBF-5F93-4757-8560-38B927054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476500"/>
            <a:ext cx="19812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2F6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F2F6FC"/>
                </a:solidFill>
                <a:latin typeface="Microsoft YaHei"/>
                <a:ea typeface="Microsoft YaHei"/>
                <a:cs typeface="Microsoft YaHei"/>
              </a:rPr>
              <a:t>Qwen3.5-4B + LoRA</a:t>
            </a:r>
          </a:p>
          <a:p xmlns:a="http://schemas.openxmlformats.org/drawingml/2006/main">
            <a:pPr algn="l">
              <a:defRPr sz="1350" b="0">
                <a:solidFill>
                  <a:srgbClr val="F2F6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F2F6FC"/>
                </a:solidFill>
                <a:latin typeface="Microsoft YaHei"/>
                <a:ea typeface="Microsoft YaHei"/>
                <a:cs typeface="Microsoft YaHei"/>
              </a:rPr>
              <a:t>在 Spark 上判读流量</a:t>
            </a:r>
          </a:p>
          <a:p xmlns:a="http://schemas.openxmlformats.org/drawingml/2006/main">
            <a:pPr algn="l">
              <a:defRPr sz="1350" b="0">
                <a:solidFill>
                  <a:srgbClr val="F2F6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F2F6FC"/>
                </a:solidFill>
                <a:latin typeface="Microsoft YaHei"/>
                <a:ea typeface="Microsoft YaHei"/>
                <a:cs typeface="Microsoft YaHei"/>
              </a:rPr>
              <a:t>线上保留独立判断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C08E587-393B-40C9-9056-B09D392B3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8825" y="2581275"/>
            <a:ext cx="3143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59D8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59D8E8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8783AA4-5AAA-4341-BEFC-7F3363E53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924050"/>
            <a:ext cx="2400300" cy="1781175"/>
          </a:xfrm>
          <a:prstGeom xmlns:a="http://schemas.openxmlformats.org/drawingml/2006/main" prst="roundRect">
            <a:avLst>
              <a:gd name="adj" fmla="val 9626"/>
            </a:avLst>
          </a:prstGeom>
          <a:solidFill xmlns:a="http://schemas.openxmlformats.org/drawingml/2006/main">
            <a:srgbClr val="101D2D"/>
          </a:solidFill>
          <a:ln xmlns:a="http://schemas.openxmlformats.org/drawingml/2006/main" w="9525">
            <a:solidFill>
              <a:srgbClr val="29415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C6DDF61-262A-4A23-B1C1-6D8E35676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924050"/>
            <a:ext cx="47625" cy="1781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8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88E8A82-E50A-4703-8BC3-D1CFB76C3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095500"/>
            <a:ext cx="1981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FC8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FFC857"/>
                </a:solidFill>
                <a:latin typeface="Microsoft YaHei"/>
                <a:ea typeface="Microsoft YaHei"/>
                <a:cs typeface="Microsoft YaHei"/>
              </a:rPr>
              <a:t>本轮产生新经验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1403142-49D8-4508-98AD-1204E6FED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476500"/>
            <a:ext cx="19812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2F6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F2F6FC"/>
                </a:solidFill>
                <a:latin typeface="Microsoft YaHei"/>
                <a:ea typeface="Microsoft YaHei"/>
                <a:cs typeface="Microsoft YaHei"/>
              </a:rPr>
              <a:t>攻击 / 正常交换</a:t>
            </a:r>
          </a:p>
          <a:p xmlns:a="http://schemas.openxmlformats.org/drawingml/2006/main">
            <a:pPr algn="l">
              <a:defRPr sz="1350" b="0">
                <a:solidFill>
                  <a:srgbClr val="F2F6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F2F6FC"/>
                </a:solidFill>
                <a:latin typeface="Microsoft YaHei"/>
                <a:ea typeface="Microsoft YaHei"/>
                <a:cs typeface="Microsoft YaHei"/>
              </a:rPr>
              <a:t>修补前后复测</a:t>
            </a:r>
          </a:p>
          <a:p xmlns:a="http://schemas.openxmlformats.org/drawingml/2006/main">
            <a:pPr algn="l">
              <a:defRPr sz="1350" b="0">
                <a:solidFill>
                  <a:srgbClr val="F2F6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F2F6FC"/>
                </a:solidFill>
                <a:latin typeface="Microsoft YaHei"/>
                <a:ea typeface="Microsoft YaHei"/>
                <a:cs typeface="Microsoft YaHei"/>
              </a:rPr>
              <a:t>规则与 JEV 分歧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64354CB-86F2-4E6A-969A-6B7080761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01075" y="2581275"/>
            <a:ext cx="3143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59D8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59D8E8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91827FA-AB90-4713-8CD9-085AA9911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1924050"/>
            <a:ext cx="2400300" cy="1781175"/>
          </a:xfrm>
          <a:prstGeom xmlns:a="http://schemas.openxmlformats.org/drawingml/2006/main" prst="roundRect">
            <a:avLst>
              <a:gd name="adj" fmla="val 9626"/>
            </a:avLst>
          </a:prstGeom>
          <a:solidFill xmlns:a="http://schemas.openxmlformats.org/drawingml/2006/main">
            <a:srgbClr val="101D2D"/>
          </a:solidFill>
          <a:ln xmlns:a="http://schemas.openxmlformats.org/drawingml/2006/main" w="9525">
            <a:solidFill>
              <a:srgbClr val="29415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8FFFFD6-C049-4E0C-8A70-FE0A53A15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1924050"/>
            <a:ext cx="47625" cy="1781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3D6A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A1FBE60-004E-497E-B873-51683FE7C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095500"/>
            <a:ext cx="1981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63D6A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63D6A1"/>
                </a:solidFill>
                <a:latin typeface="Microsoft YaHei"/>
                <a:ea typeface="Microsoft YaHei"/>
                <a:cs typeface="Microsoft YaHei"/>
              </a:rPr>
              <a:t>下一版模型候选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A88D496-A48B-4C11-A71C-09F5A7585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476500"/>
            <a:ext cx="19812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2F6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F2F6FC"/>
                </a:solidFill>
                <a:latin typeface="Microsoft YaHei"/>
                <a:ea typeface="Microsoft YaHei"/>
                <a:cs typeface="Microsoft YaHei"/>
              </a:rPr>
              <a:t>复核标签与去重</a:t>
            </a:r>
          </a:p>
          <a:p xmlns:a="http://schemas.openxmlformats.org/drawingml/2006/main">
            <a:pPr algn="l">
              <a:defRPr sz="1350" b="0">
                <a:solidFill>
                  <a:srgbClr val="F2F6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F2F6FC"/>
                </a:solidFill>
                <a:latin typeface="Microsoft YaHei"/>
                <a:ea typeface="Microsoft YaHei"/>
                <a:cs typeface="Microsoft YaHei"/>
              </a:rPr>
              <a:t>家族切分 → 离线训练</a:t>
            </a:r>
          </a:p>
          <a:p xmlns:a="http://schemas.openxmlformats.org/drawingml/2006/main">
            <a:pPr algn="l">
              <a:defRPr sz="1350" b="0">
                <a:solidFill>
                  <a:srgbClr val="F2F6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F2F6FC"/>
                </a:solidFill>
                <a:latin typeface="Microsoft YaHei"/>
                <a:ea typeface="Microsoft YaHei"/>
                <a:cs typeface="Microsoft YaHei"/>
              </a:rPr>
              <a:t>封存评估通过后上线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EDDD0E1-A4F2-4C46-97A2-CFAC62750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143375"/>
            <a:ext cx="5172075" cy="1343025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101D2D"/>
          </a:solidFill>
          <a:ln xmlns:a="http://schemas.openxmlformats.org/drawingml/2006/main" w="9525">
            <a:solidFill>
              <a:srgbClr val="29415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1911EA2-9A50-4811-8BE5-F4A8BCA70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143375"/>
            <a:ext cx="47625" cy="1343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91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3D06CF2-B42C-400F-B589-B676F3165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314825"/>
            <a:ext cx="47529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4A91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4A91FF"/>
                </a:solidFill>
                <a:latin typeface="Microsoft YaHei"/>
                <a:ea typeface="Microsoft YaHei"/>
                <a:cs typeface="Microsoft YaHei"/>
              </a:rPr>
              <a:t>代码反馈：已在主运行验证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010542E-E6AA-4624-932C-10C0D9C1D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695825"/>
            <a:ext cx="4752975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2F6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F2F6FC"/>
                </a:solidFill>
                <a:latin typeface="Microsoft YaHei"/>
                <a:ea typeface="Microsoft YaHei"/>
                <a:cs typeface="Microsoft YaHei"/>
              </a:rPr>
              <a:t>候选补丁通过三道门禁后部署；相同攻击重放 0/2，正常业务断言与 11 项功能测试通过。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61FB2FD-7122-4E7C-9673-6E84D5020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143375"/>
            <a:ext cx="5172075" cy="1343025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101D2D"/>
          </a:solidFill>
          <a:ln xmlns:a="http://schemas.openxmlformats.org/drawingml/2006/main" w="9525">
            <a:solidFill>
              <a:srgbClr val="29415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6737296-61A1-4B37-A8E9-0718FF165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143375"/>
            <a:ext cx="47625" cy="1343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8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7B5BF97-DFE7-410A-B86F-A72355CC1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314825"/>
            <a:ext cx="47529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FC8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FFC857"/>
                </a:solidFill>
                <a:latin typeface="Microsoft YaHei"/>
                <a:ea typeface="Microsoft YaHei"/>
                <a:cs typeface="Microsoft YaHei"/>
              </a:rPr>
              <a:t>模型反馈：新材料进入候选流程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F2E9B46-0CE0-4055-A2E3-B2CADE943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695825"/>
            <a:ext cx="4752975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2F6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F2F6FC"/>
                </a:solidFill>
                <a:latin typeface="Microsoft YaHei"/>
                <a:ea typeface="Microsoft YaHei"/>
                <a:cs typeface="Microsoft YaHei"/>
              </a:rPr>
              <a:t>误报与新交换进入复核，避免把模型自己的判断直接当训练真值。下一版训练与评估是后续验收点。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4C2949D-D48E-46BE-ADE7-4E55F7275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72150"/>
            <a:ext cx="107251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2F6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F2F6FC"/>
                </a:solidFill>
                <a:latin typeface="Microsoft YaHei"/>
                <a:ea typeface="Microsoft YaHei"/>
                <a:cs typeface="Microsoft YaHei"/>
              </a:rPr>
              <a:t>自我改进的对象包括代码与判官；每次升级都要能回答“数据从哪来、标签凭什么、复测是否通过”。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321AEB2-2A08-4ABB-9994-B79306479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36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81B5472-0947-402C-8239-FBF7EB57A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86525"/>
            <a:ext cx="809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A8B6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A8B6C8"/>
                </a:solidFill>
                <a:latin typeface="Microsoft YaHei"/>
                <a:ea typeface="Microsoft YaHei"/>
                <a:cs typeface="Microsoft YaHei"/>
              </a:rPr>
              <a:t>AEGIS · DGX SPARK HACKATHON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719EE3F-05F8-4CC2-A6CD-1FEBAC399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57950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59D8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59D8E8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47332021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8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1B15168-511F-42AF-AD48-12444992E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477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9D8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59D8E8"/>
                </a:solidFill>
                <a:latin typeface="Microsoft YaHei"/>
                <a:ea typeface="Microsoft YaHei"/>
                <a:cs typeface="Microsoft YaHei"/>
              </a:rPr>
              <a:t>RSI 的判官 · 判读结果、分歧与模型评估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9EB9907-0EC0-4F6D-9777-7019C716D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2F6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F2F6FC"/>
                </a:solidFill>
                <a:latin typeface="Microsoft YaHei"/>
                <a:ea typeface="Microsoft YaHei"/>
                <a:cs typeface="Microsoft YaHei"/>
              </a:rPr>
              <a:t>JEV 连接对抗与学习：独立判流量，暴露待改进样本</a:t>
            </a:r>
          </a:p>
        </p:txBody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e3861a297e3403d"/>
          <a:stretch xmlns:a="http://schemas.openxmlformats.org/drawingml/2006/main"/>
        </p:blipFill>
        <p:spPr>
          <a:xfrm xmlns:a="http://schemas.openxmlformats.org/drawingml/2006/main">
            <a:off x="609600" y="1444228"/>
            <a:ext cx="5143500" cy="2893219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AC813EF-AC82-4E0C-BFAD-532418FAB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33900"/>
            <a:ext cx="5143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59D8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59D8E8"/>
                </a:solidFill>
                <a:latin typeface="Microsoft YaHei"/>
                <a:ea typeface="Microsoft YaHei"/>
                <a:cs typeface="Microsoft YaHei"/>
              </a:rPr>
              <a:t>Qwen3.5-4B + LoRA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52662BD-681E-4A99-81F9-E59A8FE16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33950"/>
            <a:ext cx="50958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2F6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F2F6FC"/>
                </a:solidFill>
                <a:latin typeface="Microsoft YaHei"/>
                <a:ea typeface="Microsoft YaHei"/>
                <a:cs typeface="Microsoft YaHei"/>
              </a:rPr>
              <a:t>输入真实交换，输出攻 / 正常 / 弃权。与规则的分歧进入复核，帮助筛选后续训练材料。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82B2F35-1DDD-42B5-88C5-7955D704F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428750"/>
            <a:ext cx="5391150" cy="411480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101D2D"/>
          </a:solidFill>
          <a:ln xmlns:a="http://schemas.openxmlformats.org/drawingml/2006/main" w="9525">
            <a:solidFill>
              <a:srgbClr val="29415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730495A-F5F5-464F-B212-D67608D40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67640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A8B6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A8B6C8"/>
                </a:solidFill>
                <a:latin typeface="Microsoft YaHei"/>
                <a:ea typeface="Microsoft YaHei"/>
                <a:cs typeface="Microsoft YaHei"/>
              </a:rPr>
              <a:t>混合域 holdout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0DD9D3F-6D06-4DAF-A877-16332BCFC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028825"/>
            <a:ext cx="2286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F2F6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>
                <a:solidFill>
                  <a:srgbClr val="F2F6FC"/>
                </a:solidFill>
                <a:latin typeface="Microsoft YaHei"/>
                <a:ea typeface="Microsoft YaHei"/>
                <a:cs typeface="Microsoft YaHei"/>
              </a:rPr>
              <a:t>0.9955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970E037-0948-4FE0-99DB-68329CEE0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657475"/>
            <a:ext cx="2333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9D8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59D8E8"/>
                </a:solidFill>
                <a:latin typeface="Microsoft YaHei"/>
                <a:ea typeface="Microsoft YaHei"/>
                <a:cs typeface="Microsoft YaHei"/>
              </a:rPr>
              <a:t>准确率 · n = 4,244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BF63391-285B-4A98-B28D-68CB79496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095625"/>
            <a:ext cx="4762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415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DED14AE-7EAD-4A5A-9A58-6958D9065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314700"/>
            <a:ext cx="1905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A8B6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A8B6C8"/>
                </a:solidFill>
                <a:latin typeface="Microsoft YaHei"/>
                <a:ea typeface="Microsoft YaHei"/>
                <a:cs typeface="Microsoft YaHei"/>
              </a:rPr>
              <a:t>封存 B 卷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52BCF19-A2D5-447A-99C1-C490C3A3D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638550"/>
            <a:ext cx="2143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F2F6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F2F6FC"/>
                </a:solidFill>
                <a:latin typeface="Microsoft YaHei"/>
                <a:ea typeface="Microsoft YaHei"/>
                <a:cs typeface="Microsoft YaHei"/>
              </a:rPr>
              <a:t>0.9992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7098880-71A7-4B30-AB39-14476B591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676650"/>
            <a:ext cx="257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63D6A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63D6A1"/>
                </a:solidFill>
                <a:latin typeface="Microsoft YaHei"/>
                <a:ea typeface="Microsoft YaHei"/>
                <a:cs typeface="Microsoft YaHei"/>
              </a:rPr>
              <a:t>准确率 · n = 7,266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166E3E-092E-45CE-B263-6987125C2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24815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2F6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2F6FC"/>
                </a:solidFill>
                <a:latin typeface="Microsoft YaHei"/>
                <a:ea typeface="Microsoft YaHei"/>
                <a:cs typeface="Microsoft YaHei"/>
              </a:rPr>
              <a:t>recall 1.000 · precision 0.9987 · abstain 0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5297E76-E403-4802-8EFC-626BA3DF4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648200"/>
            <a:ext cx="4762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415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5C0B3FA-735A-4936-9913-420B9E13F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857750"/>
            <a:ext cx="476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9D8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59D8E8"/>
                </a:solidFill>
                <a:latin typeface="Microsoft YaHei"/>
                <a:ea typeface="Microsoft YaHei"/>
                <a:cs typeface="Microsoft YaHei"/>
              </a:rPr>
              <a:t>Spark GB10 单发：median 80.8 ms · p95 118.5 ms · 12.17/s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0DE2721-45F5-4475-9EC3-0C153ED7B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743575"/>
            <a:ext cx="108204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FC8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C857"/>
                </a:solidFill>
                <a:latin typeface="Microsoft YaHei"/>
                <a:ea typeface="Microsoft YaHei"/>
                <a:cs typeface="Microsoft YaHei"/>
              </a:rPr>
              <a:t>边界：B 卷请求面归一后与旧域同形；不能据此宣称识别真正全新的攻击。在线主运行曾出现 3 条正常 /login 被 JEV 误报，仍需校准。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5304EA8-FE83-4157-A471-3E4B38E64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36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017D37C-F15F-4D97-82BA-E3FFFB42E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86525"/>
            <a:ext cx="809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A8B6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A8B6C8"/>
                </a:solidFill>
                <a:latin typeface="Microsoft YaHei"/>
                <a:ea typeface="Microsoft YaHei"/>
                <a:cs typeface="Microsoft YaHei"/>
              </a:rPr>
              <a:t>AEGIS · DGX SPARK HACKATHON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1716FAA-A181-42D7-BE7D-C5B2799A4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57950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59D8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59D8E8"/>
                </a:solidFill>
                <a:latin typeface="Microsoft YaHei"/>
                <a:ea typeface="Microsoft YaHei"/>
                <a:cs typeface="Microsoft YaHei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202299252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8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9273EBC-32BC-4FE8-A6F9-9420CECD1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477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9D8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59D8E8"/>
                </a:solidFill>
                <a:latin typeface="Microsoft YaHei"/>
                <a:ea typeface="Microsoft YaHei"/>
                <a:cs typeface="Microsoft YaHei"/>
              </a:rPr>
              <a:t>复用 · 落地 · 下一步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7CBB55A-3723-4181-B5D2-FDB057B7A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2F6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F2F6FC"/>
                </a:solidFill>
                <a:latin typeface="Microsoft YaHei"/>
                <a:ea typeface="Microsoft YaHei"/>
                <a:cs typeface="Microsoft YaHei"/>
              </a:rPr>
              <a:t>把 RSI 工作流封装成 Skills，交给其他智能体复用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02E2671-9870-46E0-B452-BE16E49BC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76375"/>
            <a:ext cx="4953000" cy="866775"/>
          </a:xfrm>
          <a:prstGeom xmlns:a="http://schemas.openxmlformats.org/drawingml/2006/main" prst="roundRect">
            <a:avLst>
              <a:gd name="adj" fmla="val 19780"/>
            </a:avLst>
          </a:prstGeom>
          <a:solidFill xmlns:a="http://schemas.openxmlformats.org/drawingml/2006/main">
            <a:srgbClr val="101D2D"/>
          </a:solidFill>
          <a:ln xmlns:a="http://schemas.openxmlformats.org/drawingml/2006/main" w="9525">
            <a:solidFill>
              <a:srgbClr val="29415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6ECE48E-21C5-4769-BAB1-61A4F81CE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76375"/>
            <a:ext cx="47625" cy="866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6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0DD67B3-5CA2-4602-B4B8-1DBDA623C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47825"/>
            <a:ext cx="4533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F6B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FF6B6B"/>
                </a:solidFill>
                <a:latin typeface="Microsoft YaHei"/>
                <a:ea typeface="Microsoft YaHei"/>
                <a:cs typeface="Microsoft YaHei"/>
              </a:rPr>
              <a:t>aegis-hunt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9C2158-EA5E-43D1-825D-2D1B03652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028825"/>
            <a:ext cx="45339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7963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2F6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F2F6FC"/>
                </a:solidFill>
                <a:latin typeface="Microsoft YaHei"/>
                <a:ea typeface="Microsoft YaHei"/>
                <a:cs typeface="Microsoft YaHei"/>
              </a:rPr>
              <a:t>在授权目标上探测并归档可复现发现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5203C84-71D5-4E95-97C3-3052A308E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1476375"/>
            <a:ext cx="4953000" cy="866775"/>
          </a:xfrm>
          <a:prstGeom xmlns:a="http://schemas.openxmlformats.org/drawingml/2006/main" prst="roundRect">
            <a:avLst>
              <a:gd name="adj" fmla="val 19780"/>
            </a:avLst>
          </a:prstGeom>
          <a:solidFill xmlns:a="http://schemas.openxmlformats.org/drawingml/2006/main">
            <a:srgbClr val="101D2D"/>
          </a:solidFill>
          <a:ln xmlns:a="http://schemas.openxmlformats.org/drawingml/2006/main" w="9525">
            <a:solidFill>
              <a:srgbClr val="29415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0626141-F13D-468D-A52A-E47CC89E8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1476375"/>
            <a:ext cx="47625" cy="866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9D8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898C0BF-03BA-4589-85CF-E82ABA133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1647825"/>
            <a:ext cx="4533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59D8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59D8E8"/>
                </a:solidFill>
                <a:latin typeface="Microsoft YaHei"/>
                <a:ea typeface="Microsoft YaHei"/>
                <a:cs typeface="Microsoft YaHei"/>
              </a:rPr>
              <a:t>aegis-evolve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908103F-CC4E-468B-9710-F898F8695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28825"/>
            <a:ext cx="45339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7963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2F6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F2F6FC"/>
                </a:solidFill>
                <a:latin typeface="Microsoft YaHei"/>
                <a:ea typeface="Microsoft YaHei"/>
                <a:cs typeface="Microsoft YaHei"/>
              </a:rPr>
              <a:t>审核 POC 候选，写回经验库供下轮复用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9F9E625-70D5-49C4-95B0-147465B3F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00325"/>
            <a:ext cx="4953000" cy="866775"/>
          </a:xfrm>
          <a:prstGeom xmlns:a="http://schemas.openxmlformats.org/drawingml/2006/main" prst="roundRect">
            <a:avLst>
              <a:gd name="adj" fmla="val 19780"/>
            </a:avLst>
          </a:prstGeom>
          <a:solidFill xmlns:a="http://schemas.openxmlformats.org/drawingml/2006/main">
            <a:srgbClr val="101D2D"/>
          </a:solidFill>
          <a:ln xmlns:a="http://schemas.openxmlformats.org/drawingml/2006/main" w="9525">
            <a:solidFill>
              <a:srgbClr val="29415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CCF741F-79F6-496A-A531-2A680C2B0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00325"/>
            <a:ext cx="47625" cy="866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3D6A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98AECD6-FA99-43DF-B741-1315A8C00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771775"/>
            <a:ext cx="4533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63D6A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63D6A1"/>
                </a:solidFill>
                <a:latin typeface="Microsoft YaHei"/>
                <a:ea typeface="Microsoft YaHei"/>
                <a:cs typeface="Microsoft YaHei"/>
              </a:rPr>
              <a:t>aegis-self-repair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90767FE-668D-4F6C-B24C-5EBCFE001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152775"/>
            <a:ext cx="45339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7963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2F6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F2F6FC"/>
                </a:solidFill>
                <a:latin typeface="Microsoft YaHei"/>
                <a:ea typeface="Microsoft YaHei"/>
                <a:cs typeface="Microsoft YaHei"/>
              </a:rPr>
              <a:t>已登记修补：真实 CLI，17/17 收据核验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913919A-9216-4D3F-A7B3-6AED54F7B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2600325"/>
            <a:ext cx="4953000" cy="866775"/>
          </a:xfrm>
          <a:prstGeom xmlns:a="http://schemas.openxmlformats.org/drawingml/2006/main" prst="roundRect">
            <a:avLst>
              <a:gd name="adj" fmla="val 19780"/>
            </a:avLst>
          </a:prstGeom>
          <a:solidFill xmlns:a="http://schemas.openxmlformats.org/drawingml/2006/main">
            <a:srgbClr val="101D2D"/>
          </a:solidFill>
          <a:ln xmlns:a="http://schemas.openxmlformats.org/drawingml/2006/main" w="9525">
            <a:solidFill>
              <a:srgbClr val="29415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0258116-2C27-4E48-8EB0-AA52C0048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2600325"/>
            <a:ext cx="47625" cy="866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8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D9E9A70-2880-4A35-B132-A0FE5AE48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771775"/>
            <a:ext cx="4533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FC8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FFC857"/>
                </a:solidFill>
                <a:latin typeface="Microsoft YaHei"/>
                <a:ea typeface="Microsoft YaHei"/>
                <a:cs typeface="Microsoft YaHei"/>
              </a:rPr>
              <a:t>aegis-jevtrain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A394A97-1D47-48CA-86B7-7E6186AFE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3152775"/>
            <a:ext cx="45339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7963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2F6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F2F6FC"/>
                </a:solidFill>
                <a:latin typeface="Microsoft YaHei"/>
                <a:ea typeface="Microsoft YaHei"/>
                <a:cs typeface="Microsoft YaHei"/>
              </a:rPr>
              <a:t>整理判官候选材料；审核后才进入训练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A9C738D-351C-4CD9-BDEC-511F7AC5C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886200"/>
            <a:ext cx="10896600" cy="895350"/>
          </a:xfrm>
          <a:prstGeom xmlns:a="http://schemas.openxmlformats.org/drawingml/2006/main" prst="roundRect">
            <a:avLst>
              <a:gd name="adj" fmla="val 17021"/>
            </a:avLst>
          </a:prstGeom>
          <a:solidFill xmlns:a="http://schemas.openxmlformats.org/drawingml/2006/main">
            <a:srgbClr val="102338"/>
          </a:solidFill>
          <a:ln xmlns:a="http://schemas.openxmlformats.org/drawingml/2006/main" w="9525">
            <a:solidFill>
              <a:srgbClr val="2A506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F2B959E-74D5-4117-A0E0-EB53A71EB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4029075"/>
            <a:ext cx="361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9D8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59D8E8"/>
                </a:solidFill>
                <a:latin typeface="Microsoft YaHei"/>
                <a:ea typeface="Microsoft YaHei"/>
                <a:cs typeface="Microsoft YaHei"/>
              </a:rPr>
              <a:t>改进与迁移旁证（各有独立记录）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E6E6B90-A391-45A2-92D1-01E5E7D6C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4362450"/>
            <a:ext cx="10210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2F6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2F6FC"/>
                </a:solidFill>
                <a:latin typeface="Microsoft YaHei"/>
                <a:ea typeface="Microsoft YaHei"/>
                <a:cs typeface="Microsoft YaHei"/>
              </a:rPr>
              <a:t>同一已知目标 21→3：人审后的经验库复用。C 工作副本修补重放 0/2；严格 oracle 验收未齐。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40D866E-1345-4CAD-B6A6-4737115B9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0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2F6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2F6FC"/>
                </a:solidFill>
                <a:latin typeface="Microsoft YaHei"/>
                <a:ea typeface="Microsoft YaHei"/>
                <a:cs typeface="Microsoft YaHei"/>
              </a:rPr>
              <a:t>接下来：在真正不同结构的盲测靶场验证泛化；减少 /login 误报；完成人审后的 JEV 训练与封存评估。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FBE7961-C4FE-4C43-985F-E25AFA4C6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10250"/>
            <a:ext cx="10668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59D8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59D8E8"/>
                </a:solidFill>
                <a:latin typeface="Microsoft YaHei"/>
                <a:ea typeface="Microsoft YaHei"/>
                <a:cs typeface="Microsoft YaHei"/>
              </a:rPr>
              <a:t>发现 → 判读 → 修补 → 复测 → 训练材料 → 下一轮改进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F6509F7-025D-4B8B-9467-B900F9ACD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36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96F8EC2-9110-4D44-912C-0005F29A4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86525"/>
            <a:ext cx="809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A8B6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A8B6C8"/>
                </a:solidFill>
                <a:latin typeface="Microsoft YaHei"/>
                <a:ea typeface="Microsoft YaHei"/>
                <a:cs typeface="Microsoft YaHei"/>
              </a:rPr>
              <a:t>AEGIS · DGX SPARK HACKATHON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31BC7E6-E42A-49C1-9AA1-D32CACE41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57950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59D8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59D8E8"/>
                </a:solidFill>
                <a:latin typeface="Microsoft YaHei"/>
                <a:ea typeface="Microsoft YaHei"/>
                <a:cs typeface="Microsoft YaHei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67773660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2026-09-28T16:37:16.7260000Z</dcterms:created>
  <dcterms:modified xsi:type="dcterms:W3CDTF">2026-09-28T16:37:16.7260000Z</dcterms:modified>
</coreProperties>
</file>