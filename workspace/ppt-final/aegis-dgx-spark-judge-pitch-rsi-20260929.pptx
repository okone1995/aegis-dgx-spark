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封面背景采用可编辑的机柜风格原生图形；非真实攻击现场照片。项目名称 Aegis。叙事核心：受控红蓝对抗、受门禁约束的修补、二分类 JEV 判官以及人工复核后的持续改进。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讲稿：我们的目标是把安全对抗变成可持续改进的循环。红方产生真实交换，JEV 与蓝方规则独立判读，蓝方模型提出受门禁约束的代码修补；攻击回放与业务测试决定代码是否真的改好了。复测数据、误报和攻击样本再经过人工复核与家族级切分，成为下一版 JEV 的材料。代码修补反馈已闭环；历史 v3 训练、评估和部署已完成；本轮新材料到下一版权重的反馈仍待人审和训练。JEV 本身是二分类器，不承担主动漏洞搜索、漏洞类别识别或业务风险评级。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来源：OpenAI, “OpenAI and Hugging Face partner to address security incident during model evaluation”, https://openai.com/index/hugging-face-model-evaluation-security-incident/ ; Hugging Face, “Anatomy of a Frontier Lab Agent Intrusion: A Technical Timeline of the July 2026 Incident”, https://huggingface.co/blog/agent-intrusion-technical-timeline . 讲述时强调这是内部评测中 agent 越过隔离边界的安全事件，不要说成 OpenAI 主动攻击 Hugging Face。HF 技术时间线称仅有五个名称指向 ExploitGym/CyberGym 的数据集被访问，未发现其他客户向资产受影响。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业务情境为项目设计示例，用来说明保险机构在敏感数据与连续性方面的高要求。不暗示特定保险公司已发生事件，也不构成监管合规结论。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架构口径：用户从 /demo 启动请求，FastAPI 建立运行并交由 DemoCase 按阶段编排；事件写入统一 run 台账。技能包提供可复用 CLI 工作流，不要说当前主演示由 Skills 自主驱动。DGX Spark 上本地 Qwen 提供 patch；JEV v3 服务在 Spark GB10；StepFun 只接收 patch diff 做异构复核，不能说全链路零出域。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真实证据：run-20260927-140612-399b。seq 7 攻击触发合成 edu-lite 靶场标记；seq 18 diff_bounds / backdoor / llm_hetero 三关 PASS；seq 20 部署候选 hash 与已审候选一致；seq 36 blocked=true、marker_hit=false、network_error=false、replay_hit=0/replay_total=2、business_pass=true、11 项 functional tests passed；seq 40 restored；seq 41 succeeded。此页截图来自同一 run 的只读回放；LIVE 原片与 REPLAY 镜头分开呈现。证据对应 docs/video-script.md 和 workspace/video/raw 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 dataset/judge_v3_mix/stats.json：train 17,403、holdout 4,244、family cross-split overlap=0。v3 基于历史 edu-lite 与外部 DVWA/hack-skills 域材料训练，不能说由当前这次 live run 训练产生。当前主 run 的 learning.queued=5 是一般学习队列；独立 C run 的 JEV 候选采集是另一条队列，不将两者混称一份新训练卷。当前只展示材料回流与审核路径，下一版权重尚未训练。主要代码修补验证见 run-20260927-140612-399b seq 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数字来源：dataset/judge_v3_mix/stats.json（17,403 条 train，4,244 holdout，family split train 5,390 / holdout 1,415，跨切分重叠 0，B family overlap 0）；holdout 指标由 bench/results/three_arm/v3_by_domain.json 与 claims/evaluation artifacts 核对；B 卷数字 bench/train/results/d7_b/v3_eval_b_clean.json（n=7,266, acc 0.9992, precision 0.9987, recall 1.0, abstain 0）。Spark 推理指标 bench/results/judge_latency/spark_v3_single_shot.json（NVIDIA GB10, batch=1, median 80.8 ms, p95 118.5 ms, 12.17/s）。RTX 5090 用于训练，DGX Spark GB10 用于推理。B 卷只证明旧域相同请求形态下的新实例/响应表现，不代表真正新形态攻击泛化。主运行在线流曾有 3 条正常 /login 被判为攻击，展示中如被问应正面说明。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Skills 目录含 aegis-hunt / aegis-evolve / aegis-self-repair / aegis-jevtrain。aegis-evolve 的职责是审核 POC 候选、写回经验库、为下一轮检索复用；修补编排属于 self-repair。新技能连续实跑 run-20260928-155647-3290：实际 selftest/start/status/verdict CLI 与实时大屏同屏，verified_restored，17/17 proof flags true，patch_mode=llm_guided，攻击复测 0/2，11 项业务测试通过。新片 44.233 秒，等待段 4 倍加速并明示。红方 21→3 为同一已知目标的人审库复用，不能据此声称新目标泛化；两次 hunting 原始记录已随包交付。陌生 agent 对 jevtrain 的独立验收仍是已知缺口，避免称所有技能都已外部验收。跨靶证据是单独的 C 工作副本，不是主 run 的组成部分：docs/worklog 与独立 run-20260927-103447-1026、hunting artifacts 记录。C 靶清理时封存内容恢复，但逐字节 hash 有换行差异，故不声称 exact-byte restore。下一步方向均为待完成事项。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9" name="矩形 16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C"/>
          </a:solidFill>
          <a:ln w="0">
            <a:noFill/>
            <a:prstDash val="solid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685800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92467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698182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92467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698182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92467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698182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92467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698182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92467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698182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692467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8182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692467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698182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92467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98182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748665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55332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1047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755332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761047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755332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761047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755332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761047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755332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761047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755332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761047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755332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761047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755332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761047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811530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818197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823912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818197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40" name="椭圆 39"/>
          <p:cNvSpPr>
            <a:spLocks noGrp="1"/>
          </p:cNvSpPr>
          <p:nvPr/>
        </p:nvSpPr>
        <p:spPr>
          <a:xfrm>
            <a:off x="823912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818197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823912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818197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823912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818197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823912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818197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823912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818197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823912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51" name="圆角矩形 50"/>
          <p:cNvSpPr>
            <a:spLocks noGrp="1"/>
          </p:cNvSpPr>
          <p:nvPr/>
        </p:nvSpPr>
        <p:spPr>
          <a:xfrm>
            <a:off x="818197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823912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874395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881062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886777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881062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886777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881062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59" name="椭圆 58"/>
          <p:cNvSpPr>
            <a:spLocks noGrp="1"/>
          </p:cNvSpPr>
          <p:nvPr/>
        </p:nvSpPr>
        <p:spPr>
          <a:xfrm>
            <a:off x="886777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881062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886777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62" name="圆角矩形 61"/>
          <p:cNvSpPr>
            <a:spLocks noGrp="1"/>
          </p:cNvSpPr>
          <p:nvPr/>
        </p:nvSpPr>
        <p:spPr>
          <a:xfrm>
            <a:off x="881062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886777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64" name="圆角矩形 63"/>
          <p:cNvSpPr>
            <a:spLocks noGrp="1"/>
          </p:cNvSpPr>
          <p:nvPr/>
        </p:nvSpPr>
        <p:spPr>
          <a:xfrm>
            <a:off x="881062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65" name="椭圆 64"/>
          <p:cNvSpPr>
            <a:spLocks noGrp="1"/>
          </p:cNvSpPr>
          <p:nvPr/>
        </p:nvSpPr>
        <p:spPr>
          <a:xfrm>
            <a:off x="886777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66" name="圆角矩形 65"/>
          <p:cNvSpPr>
            <a:spLocks noGrp="1"/>
          </p:cNvSpPr>
          <p:nvPr/>
        </p:nvSpPr>
        <p:spPr>
          <a:xfrm>
            <a:off x="881062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67" name="椭圆 66"/>
          <p:cNvSpPr>
            <a:spLocks noGrp="1"/>
          </p:cNvSpPr>
          <p:nvPr/>
        </p:nvSpPr>
        <p:spPr>
          <a:xfrm>
            <a:off x="886777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68" name="圆角矩形 67"/>
          <p:cNvSpPr>
            <a:spLocks noGrp="1"/>
          </p:cNvSpPr>
          <p:nvPr/>
        </p:nvSpPr>
        <p:spPr>
          <a:xfrm>
            <a:off x="881062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886777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70" name="圆角矩形 69"/>
          <p:cNvSpPr>
            <a:spLocks noGrp="1"/>
          </p:cNvSpPr>
          <p:nvPr/>
        </p:nvSpPr>
        <p:spPr>
          <a:xfrm>
            <a:off x="937260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71" name="圆角矩形 70"/>
          <p:cNvSpPr>
            <a:spLocks noGrp="1"/>
          </p:cNvSpPr>
          <p:nvPr/>
        </p:nvSpPr>
        <p:spPr>
          <a:xfrm>
            <a:off x="943927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72" name="椭圆 71"/>
          <p:cNvSpPr>
            <a:spLocks noGrp="1"/>
          </p:cNvSpPr>
          <p:nvPr/>
        </p:nvSpPr>
        <p:spPr>
          <a:xfrm>
            <a:off x="949642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73" name="圆角矩形 72"/>
          <p:cNvSpPr>
            <a:spLocks noGrp="1"/>
          </p:cNvSpPr>
          <p:nvPr/>
        </p:nvSpPr>
        <p:spPr>
          <a:xfrm>
            <a:off x="943927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74" name="椭圆 73"/>
          <p:cNvSpPr>
            <a:spLocks noGrp="1"/>
          </p:cNvSpPr>
          <p:nvPr/>
        </p:nvSpPr>
        <p:spPr>
          <a:xfrm>
            <a:off x="949642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75" name="圆角矩形 74"/>
          <p:cNvSpPr>
            <a:spLocks noGrp="1"/>
          </p:cNvSpPr>
          <p:nvPr/>
        </p:nvSpPr>
        <p:spPr>
          <a:xfrm>
            <a:off x="943927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76" name="椭圆 75"/>
          <p:cNvSpPr>
            <a:spLocks noGrp="1"/>
          </p:cNvSpPr>
          <p:nvPr/>
        </p:nvSpPr>
        <p:spPr>
          <a:xfrm>
            <a:off x="949642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943927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78" name="椭圆 77"/>
          <p:cNvSpPr>
            <a:spLocks noGrp="1"/>
          </p:cNvSpPr>
          <p:nvPr/>
        </p:nvSpPr>
        <p:spPr>
          <a:xfrm>
            <a:off x="949642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79" name="圆角矩形 78"/>
          <p:cNvSpPr>
            <a:spLocks noGrp="1"/>
          </p:cNvSpPr>
          <p:nvPr/>
        </p:nvSpPr>
        <p:spPr>
          <a:xfrm>
            <a:off x="943927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949642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81" name="圆角矩形 80"/>
          <p:cNvSpPr>
            <a:spLocks noGrp="1"/>
          </p:cNvSpPr>
          <p:nvPr/>
        </p:nvSpPr>
        <p:spPr>
          <a:xfrm>
            <a:off x="943927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82" name="椭圆 81"/>
          <p:cNvSpPr>
            <a:spLocks noGrp="1"/>
          </p:cNvSpPr>
          <p:nvPr/>
        </p:nvSpPr>
        <p:spPr>
          <a:xfrm>
            <a:off x="949642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83" name="圆角矩形 82"/>
          <p:cNvSpPr>
            <a:spLocks noGrp="1"/>
          </p:cNvSpPr>
          <p:nvPr/>
        </p:nvSpPr>
        <p:spPr>
          <a:xfrm>
            <a:off x="943927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84" name="椭圆 83"/>
          <p:cNvSpPr>
            <a:spLocks noGrp="1"/>
          </p:cNvSpPr>
          <p:nvPr/>
        </p:nvSpPr>
        <p:spPr>
          <a:xfrm>
            <a:off x="949642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85" name="圆角矩形 84"/>
          <p:cNvSpPr>
            <a:spLocks noGrp="1"/>
          </p:cNvSpPr>
          <p:nvPr/>
        </p:nvSpPr>
        <p:spPr>
          <a:xfrm>
            <a:off x="943927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86" name="椭圆 85"/>
          <p:cNvSpPr>
            <a:spLocks noGrp="1"/>
          </p:cNvSpPr>
          <p:nvPr/>
        </p:nvSpPr>
        <p:spPr>
          <a:xfrm>
            <a:off x="949642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87" name="圆角矩形 86"/>
          <p:cNvSpPr>
            <a:spLocks noGrp="1"/>
          </p:cNvSpPr>
          <p:nvPr/>
        </p:nvSpPr>
        <p:spPr>
          <a:xfrm>
            <a:off x="1000125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88" name="圆角矩形 87"/>
          <p:cNvSpPr>
            <a:spLocks noGrp="1"/>
          </p:cNvSpPr>
          <p:nvPr/>
        </p:nvSpPr>
        <p:spPr>
          <a:xfrm>
            <a:off x="1006792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89" name="椭圆 88"/>
          <p:cNvSpPr>
            <a:spLocks noGrp="1"/>
          </p:cNvSpPr>
          <p:nvPr/>
        </p:nvSpPr>
        <p:spPr>
          <a:xfrm>
            <a:off x="1012507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90" name="圆角矩形 89"/>
          <p:cNvSpPr>
            <a:spLocks noGrp="1"/>
          </p:cNvSpPr>
          <p:nvPr/>
        </p:nvSpPr>
        <p:spPr>
          <a:xfrm>
            <a:off x="1006792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91" name="椭圆 90"/>
          <p:cNvSpPr>
            <a:spLocks noGrp="1"/>
          </p:cNvSpPr>
          <p:nvPr/>
        </p:nvSpPr>
        <p:spPr>
          <a:xfrm>
            <a:off x="1012507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92" name="圆角矩形 91"/>
          <p:cNvSpPr>
            <a:spLocks noGrp="1"/>
          </p:cNvSpPr>
          <p:nvPr/>
        </p:nvSpPr>
        <p:spPr>
          <a:xfrm>
            <a:off x="1006792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93" name="椭圆 92"/>
          <p:cNvSpPr>
            <a:spLocks noGrp="1"/>
          </p:cNvSpPr>
          <p:nvPr/>
        </p:nvSpPr>
        <p:spPr>
          <a:xfrm>
            <a:off x="1012507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94" name="圆角矩形 93"/>
          <p:cNvSpPr>
            <a:spLocks noGrp="1"/>
          </p:cNvSpPr>
          <p:nvPr/>
        </p:nvSpPr>
        <p:spPr>
          <a:xfrm>
            <a:off x="1006792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95" name="椭圆 94"/>
          <p:cNvSpPr>
            <a:spLocks noGrp="1"/>
          </p:cNvSpPr>
          <p:nvPr/>
        </p:nvSpPr>
        <p:spPr>
          <a:xfrm>
            <a:off x="1012507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96" name="圆角矩形 95"/>
          <p:cNvSpPr>
            <a:spLocks noGrp="1"/>
          </p:cNvSpPr>
          <p:nvPr/>
        </p:nvSpPr>
        <p:spPr>
          <a:xfrm>
            <a:off x="1006792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97" name="椭圆 96"/>
          <p:cNvSpPr>
            <a:spLocks noGrp="1"/>
          </p:cNvSpPr>
          <p:nvPr/>
        </p:nvSpPr>
        <p:spPr>
          <a:xfrm>
            <a:off x="1012507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98" name="圆角矩形 97"/>
          <p:cNvSpPr>
            <a:spLocks noGrp="1"/>
          </p:cNvSpPr>
          <p:nvPr/>
        </p:nvSpPr>
        <p:spPr>
          <a:xfrm>
            <a:off x="1006792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012507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00" name="圆角矩形 99"/>
          <p:cNvSpPr>
            <a:spLocks noGrp="1"/>
          </p:cNvSpPr>
          <p:nvPr/>
        </p:nvSpPr>
        <p:spPr>
          <a:xfrm>
            <a:off x="1006792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01" name="椭圆 100"/>
          <p:cNvSpPr>
            <a:spLocks noGrp="1"/>
          </p:cNvSpPr>
          <p:nvPr/>
        </p:nvSpPr>
        <p:spPr>
          <a:xfrm>
            <a:off x="1012507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006792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03" name="椭圆 102"/>
          <p:cNvSpPr>
            <a:spLocks noGrp="1"/>
          </p:cNvSpPr>
          <p:nvPr/>
        </p:nvSpPr>
        <p:spPr>
          <a:xfrm>
            <a:off x="1012507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1062990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1069657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06" name="椭圆 105"/>
          <p:cNvSpPr>
            <a:spLocks noGrp="1"/>
          </p:cNvSpPr>
          <p:nvPr/>
        </p:nvSpPr>
        <p:spPr>
          <a:xfrm>
            <a:off x="1075372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1069657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08" name="椭圆 107"/>
          <p:cNvSpPr>
            <a:spLocks noGrp="1"/>
          </p:cNvSpPr>
          <p:nvPr/>
        </p:nvSpPr>
        <p:spPr>
          <a:xfrm>
            <a:off x="1075372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1069657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10" name="椭圆 109"/>
          <p:cNvSpPr>
            <a:spLocks noGrp="1"/>
          </p:cNvSpPr>
          <p:nvPr/>
        </p:nvSpPr>
        <p:spPr>
          <a:xfrm>
            <a:off x="1075372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1069657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12" name="椭圆 111"/>
          <p:cNvSpPr>
            <a:spLocks noGrp="1"/>
          </p:cNvSpPr>
          <p:nvPr/>
        </p:nvSpPr>
        <p:spPr>
          <a:xfrm>
            <a:off x="1075372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1069657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14" name="椭圆 113"/>
          <p:cNvSpPr>
            <a:spLocks noGrp="1"/>
          </p:cNvSpPr>
          <p:nvPr/>
        </p:nvSpPr>
        <p:spPr>
          <a:xfrm>
            <a:off x="1075372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1069657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1075372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1069657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18" name="椭圆 117"/>
          <p:cNvSpPr>
            <a:spLocks noGrp="1"/>
          </p:cNvSpPr>
          <p:nvPr/>
        </p:nvSpPr>
        <p:spPr>
          <a:xfrm>
            <a:off x="1075372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1069657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20" name="椭圆 119"/>
          <p:cNvSpPr>
            <a:spLocks noGrp="1"/>
          </p:cNvSpPr>
          <p:nvPr/>
        </p:nvSpPr>
        <p:spPr>
          <a:xfrm>
            <a:off x="1075372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1125855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122" name="圆角矩形 121"/>
          <p:cNvSpPr>
            <a:spLocks noGrp="1"/>
          </p:cNvSpPr>
          <p:nvPr/>
        </p:nvSpPr>
        <p:spPr>
          <a:xfrm>
            <a:off x="1132522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23" name="椭圆 122"/>
          <p:cNvSpPr>
            <a:spLocks noGrp="1"/>
          </p:cNvSpPr>
          <p:nvPr/>
        </p:nvSpPr>
        <p:spPr>
          <a:xfrm>
            <a:off x="1138237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24" name="圆角矩形 123"/>
          <p:cNvSpPr>
            <a:spLocks noGrp="1"/>
          </p:cNvSpPr>
          <p:nvPr/>
        </p:nvSpPr>
        <p:spPr>
          <a:xfrm>
            <a:off x="1132522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25" name="椭圆 124"/>
          <p:cNvSpPr>
            <a:spLocks noGrp="1"/>
          </p:cNvSpPr>
          <p:nvPr/>
        </p:nvSpPr>
        <p:spPr>
          <a:xfrm>
            <a:off x="1138237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26" name="圆角矩形 125"/>
          <p:cNvSpPr>
            <a:spLocks noGrp="1"/>
          </p:cNvSpPr>
          <p:nvPr/>
        </p:nvSpPr>
        <p:spPr>
          <a:xfrm>
            <a:off x="1132522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27" name="椭圆 126"/>
          <p:cNvSpPr>
            <a:spLocks noGrp="1"/>
          </p:cNvSpPr>
          <p:nvPr/>
        </p:nvSpPr>
        <p:spPr>
          <a:xfrm>
            <a:off x="1138237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1132522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29" name="椭圆 128"/>
          <p:cNvSpPr>
            <a:spLocks noGrp="1"/>
          </p:cNvSpPr>
          <p:nvPr/>
        </p:nvSpPr>
        <p:spPr>
          <a:xfrm>
            <a:off x="1138237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1132522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31" name="椭圆 130"/>
          <p:cNvSpPr>
            <a:spLocks noGrp="1"/>
          </p:cNvSpPr>
          <p:nvPr/>
        </p:nvSpPr>
        <p:spPr>
          <a:xfrm>
            <a:off x="1138237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1132522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33" name="椭圆 132"/>
          <p:cNvSpPr>
            <a:spLocks noGrp="1"/>
          </p:cNvSpPr>
          <p:nvPr/>
        </p:nvSpPr>
        <p:spPr>
          <a:xfrm>
            <a:off x="1138237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34" name="圆角矩形 133"/>
          <p:cNvSpPr>
            <a:spLocks noGrp="1"/>
          </p:cNvSpPr>
          <p:nvPr/>
        </p:nvSpPr>
        <p:spPr>
          <a:xfrm>
            <a:off x="1132522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35" name="椭圆 134"/>
          <p:cNvSpPr>
            <a:spLocks noGrp="1"/>
          </p:cNvSpPr>
          <p:nvPr/>
        </p:nvSpPr>
        <p:spPr>
          <a:xfrm>
            <a:off x="1138237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36" name="圆角矩形 135"/>
          <p:cNvSpPr>
            <a:spLocks noGrp="1"/>
          </p:cNvSpPr>
          <p:nvPr/>
        </p:nvSpPr>
        <p:spPr>
          <a:xfrm>
            <a:off x="1132522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37" name="椭圆 136"/>
          <p:cNvSpPr>
            <a:spLocks noGrp="1"/>
          </p:cNvSpPr>
          <p:nvPr/>
        </p:nvSpPr>
        <p:spPr>
          <a:xfrm>
            <a:off x="1138237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38" name="圆角矩形 137"/>
          <p:cNvSpPr>
            <a:spLocks noGrp="1"/>
          </p:cNvSpPr>
          <p:nvPr/>
        </p:nvSpPr>
        <p:spPr>
          <a:xfrm>
            <a:off x="11887200" y="571500"/>
            <a:ext cx="400050" cy="5619750"/>
          </a:xfrm>
          <a:prstGeom prst="roundRect">
            <a:avLst>
              <a:gd name="adj" fmla="val 11905"/>
            </a:avLst>
          </a:prstGeom>
          <a:solidFill>
            <a:srgbClr val="10243A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139" name="圆角矩形 138"/>
          <p:cNvSpPr>
            <a:spLocks noGrp="1"/>
          </p:cNvSpPr>
          <p:nvPr/>
        </p:nvSpPr>
        <p:spPr>
          <a:xfrm>
            <a:off x="11953875" y="7620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40" name="椭圆 139"/>
          <p:cNvSpPr>
            <a:spLocks noGrp="1"/>
          </p:cNvSpPr>
          <p:nvPr/>
        </p:nvSpPr>
        <p:spPr>
          <a:xfrm>
            <a:off x="12011025" y="8477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41" name="圆角矩形 140"/>
          <p:cNvSpPr>
            <a:spLocks noGrp="1"/>
          </p:cNvSpPr>
          <p:nvPr/>
        </p:nvSpPr>
        <p:spPr>
          <a:xfrm>
            <a:off x="11953875" y="14097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42" name="椭圆 141"/>
          <p:cNvSpPr>
            <a:spLocks noGrp="1"/>
          </p:cNvSpPr>
          <p:nvPr/>
        </p:nvSpPr>
        <p:spPr>
          <a:xfrm>
            <a:off x="12011025" y="14954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43" name="圆角矩形 142"/>
          <p:cNvSpPr>
            <a:spLocks noGrp="1"/>
          </p:cNvSpPr>
          <p:nvPr/>
        </p:nvSpPr>
        <p:spPr>
          <a:xfrm>
            <a:off x="11953875" y="20574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44" name="椭圆 143"/>
          <p:cNvSpPr>
            <a:spLocks noGrp="1"/>
          </p:cNvSpPr>
          <p:nvPr/>
        </p:nvSpPr>
        <p:spPr>
          <a:xfrm>
            <a:off x="12011025" y="21431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45" name="圆角矩形 144"/>
          <p:cNvSpPr>
            <a:spLocks noGrp="1"/>
          </p:cNvSpPr>
          <p:nvPr/>
        </p:nvSpPr>
        <p:spPr>
          <a:xfrm>
            <a:off x="11953875" y="27051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46" name="椭圆 145"/>
          <p:cNvSpPr>
            <a:spLocks noGrp="1"/>
          </p:cNvSpPr>
          <p:nvPr/>
        </p:nvSpPr>
        <p:spPr>
          <a:xfrm>
            <a:off x="12011025" y="27908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47" name="圆角矩形 146"/>
          <p:cNvSpPr>
            <a:spLocks noGrp="1"/>
          </p:cNvSpPr>
          <p:nvPr/>
        </p:nvSpPr>
        <p:spPr>
          <a:xfrm>
            <a:off x="11953875" y="33528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48" name="椭圆 147"/>
          <p:cNvSpPr>
            <a:spLocks noGrp="1"/>
          </p:cNvSpPr>
          <p:nvPr/>
        </p:nvSpPr>
        <p:spPr>
          <a:xfrm>
            <a:off x="12011025" y="34385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49" name="圆角矩形 148"/>
          <p:cNvSpPr>
            <a:spLocks noGrp="1"/>
          </p:cNvSpPr>
          <p:nvPr/>
        </p:nvSpPr>
        <p:spPr>
          <a:xfrm>
            <a:off x="11953875" y="40005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50" name="椭圆 149"/>
          <p:cNvSpPr>
            <a:spLocks noGrp="1"/>
          </p:cNvSpPr>
          <p:nvPr/>
        </p:nvSpPr>
        <p:spPr>
          <a:xfrm>
            <a:off x="12011025" y="40862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51" name="圆角矩形 150"/>
          <p:cNvSpPr>
            <a:spLocks noGrp="1"/>
          </p:cNvSpPr>
          <p:nvPr/>
        </p:nvSpPr>
        <p:spPr>
          <a:xfrm>
            <a:off x="11953875" y="46482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52" name="椭圆 151"/>
          <p:cNvSpPr>
            <a:spLocks noGrp="1"/>
          </p:cNvSpPr>
          <p:nvPr/>
        </p:nvSpPr>
        <p:spPr>
          <a:xfrm>
            <a:off x="12011025" y="4733925"/>
            <a:ext cx="47625" cy="47625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53" name="圆角矩形 152"/>
          <p:cNvSpPr>
            <a:spLocks noGrp="1"/>
          </p:cNvSpPr>
          <p:nvPr/>
        </p:nvSpPr>
        <p:spPr>
          <a:xfrm>
            <a:off x="11953875" y="5295900"/>
            <a:ext cx="266700" cy="419100"/>
          </a:xfrm>
          <a:prstGeom prst="roundRect">
            <a:avLst>
              <a:gd name="adj" fmla="val 14286"/>
            </a:avLst>
          </a:prstGeom>
          <a:solidFill>
            <a:srgbClr val="172F47"/>
          </a:solidFill>
          <a:ln w="9525">
            <a:solidFill>
              <a:srgbClr val="244861"/>
            </a:solidFill>
            <a:prstDash val="solid"/>
          </a:ln>
        </p:spPr>
      </p:sp>
      <p:sp>
        <p:nvSpPr>
          <p:cNvPr id="154" name="椭圆 153"/>
          <p:cNvSpPr>
            <a:spLocks noGrp="1"/>
          </p:cNvSpPr>
          <p:nvPr/>
        </p:nvSpPr>
        <p:spPr>
          <a:xfrm>
            <a:off x="12011025" y="5381625"/>
            <a:ext cx="47625" cy="47625"/>
          </a:xfrm>
          <a:prstGeom prst="ellipse">
            <a:avLst/>
          </a:prstGeom>
          <a:solidFill>
            <a:srgbClr val="42627A"/>
          </a:solidFill>
          <a:ln w="0">
            <a:noFill/>
            <a:prstDash val="solid"/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gradFill>
            <a:gsLst>
              <a:gs pos="0">
                <a:srgbClr val="08111F"/>
              </a:gs>
              <a:gs pos="75000">
                <a:srgbClr val="08111F">
                  <a:alpha val="92000"/>
                </a:srgbClr>
              </a:gs>
              <a:gs pos="100000">
                <a:srgbClr val="08111F">
                  <a:alpha val="1200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685800" y="7620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DGX SPARK HACKATHON  ·  安全智能体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685800" y="1476375"/>
            <a:ext cx="5905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9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</a:t>
            </a:r>
            <a:endParaRPr sz="49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723900" y="2543175"/>
            <a:ext cx="619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4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 RSI：递归自我改进</a:t>
            </a:r>
            <a:endParaRPr sz="2475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742950" y="3305175"/>
            <a:ext cx="5953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自挖风险 · JEV 判流量 · 自修补 · 样本回流训练</a:t>
            </a:r>
            <a:endParaRPr sz="172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742950" y="4048125"/>
            <a:ext cx="5524500" cy="28575"/>
          </a:xfrm>
          <a:prstGeom prst="rect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742950" y="4295775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每轮对抗，都留下下一轮改进所需的证据</a:t>
            </a:r>
            <a:endParaRPr sz="1575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圆角矩形 161"/>
          <p:cNvSpPr>
            <a:spLocks noGrp="1"/>
          </p:cNvSpPr>
          <p:nvPr/>
        </p:nvSpPr>
        <p:spPr>
          <a:xfrm>
            <a:off x="742950" y="5095875"/>
            <a:ext cx="1352550" cy="285750"/>
          </a:xfrm>
          <a:prstGeom prst="roundRect">
            <a:avLst>
              <a:gd name="adj" fmla="val 50000"/>
            </a:avLst>
          </a:prstGeom>
          <a:solidFill>
            <a:srgbClr val="FF6B6B">
              <a:alpha val="18000"/>
            </a:srgbClr>
          </a:solidFill>
          <a:ln w="9525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163" name="矩形 162"/>
          <p:cNvSpPr>
            <a:spLocks noGrp="1"/>
          </p:cNvSpPr>
          <p:nvPr/>
        </p:nvSpPr>
        <p:spPr>
          <a:xfrm>
            <a:off x="819150" y="5114925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 TEAM</a:t>
            </a:r>
            <a:endParaRPr sz="1050" b="1">
              <a:solidFill>
                <a:srgbClr val="FF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圆角矩形 163"/>
          <p:cNvSpPr>
            <a:spLocks noGrp="1"/>
          </p:cNvSpPr>
          <p:nvPr/>
        </p:nvSpPr>
        <p:spPr>
          <a:xfrm>
            <a:off x="2228850" y="5095875"/>
            <a:ext cx="1352550" cy="285750"/>
          </a:xfrm>
          <a:prstGeom prst="roundRect">
            <a:avLst>
              <a:gd name="adj" fmla="val 50000"/>
            </a:avLst>
          </a:prstGeom>
          <a:solidFill>
            <a:srgbClr val="4A91FF">
              <a:alpha val="18000"/>
            </a:srgbClr>
          </a:solidFill>
          <a:ln w="9525">
            <a:solidFill>
              <a:srgbClr val="4A91FF">
                <a:alpha val="60000"/>
              </a:srgbClr>
            </a:solidFill>
            <a:prstDash val="solid"/>
          </a:ln>
        </p:spPr>
      </p:sp>
      <p:sp>
        <p:nvSpPr>
          <p:cNvPr id="165" name="矩形 164"/>
          <p:cNvSpPr>
            <a:spLocks noGrp="1"/>
          </p:cNvSpPr>
          <p:nvPr/>
        </p:nvSpPr>
        <p:spPr>
          <a:xfrm>
            <a:off x="2305050" y="5114925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4A9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A9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BLUE TEAM</a:t>
            </a:r>
            <a:endParaRPr sz="1050" b="1">
              <a:solidFill>
                <a:srgbClr val="4A9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圆角矩形 165"/>
          <p:cNvSpPr>
            <a:spLocks noGrp="1"/>
          </p:cNvSpPr>
          <p:nvPr/>
        </p:nvSpPr>
        <p:spPr>
          <a:xfrm>
            <a:off x="3714750" y="5095875"/>
            <a:ext cx="1352550" cy="285750"/>
          </a:xfrm>
          <a:prstGeom prst="roundRect">
            <a:avLst>
              <a:gd name="adj" fmla="val 50000"/>
            </a:avLst>
          </a:prstGeom>
          <a:solidFill>
            <a:srgbClr val="59D8E8">
              <a:alpha val="18000"/>
            </a:srgbClr>
          </a:solidFill>
          <a:ln w="9525">
            <a:solidFill>
              <a:srgbClr val="59D8E8">
                <a:alpha val="60000"/>
              </a:srgbClr>
            </a:solidFill>
            <a:prstDash val="solid"/>
          </a:ln>
        </p:spPr>
      </p:sp>
      <p:sp>
        <p:nvSpPr>
          <p:cNvPr id="167" name="矩形 166"/>
          <p:cNvSpPr>
            <a:spLocks noGrp="1"/>
          </p:cNvSpPr>
          <p:nvPr/>
        </p:nvSpPr>
        <p:spPr>
          <a:xfrm>
            <a:off x="3790950" y="5114925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JUDGE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矩形 167"/>
          <p:cNvSpPr>
            <a:spLocks noGrp="1"/>
          </p:cNvSpPr>
          <p:nvPr/>
        </p:nvSpPr>
        <p:spPr>
          <a:xfrm>
            <a:off x="742950" y="6000750"/>
            <a:ext cx="581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面向保险等高敏感业务的可审计安全改进循环</a:t>
            </a:r>
            <a:endParaRPr sz="112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核心机制 · RECURSIVE SELF-IMPROVEMENT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RSI 把每轮对抗的结果，变成下一轮改进的输入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400175"/>
            <a:ext cx="1085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红方发现风险，JEV 判断流量，蓝方修补代码；复测结果回流为训练材料。</a:t>
            </a:r>
            <a:endParaRPr sz="18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57250" y="2047875"/>
            <a:ext cx="2952750" cy="1095375"/>
          </a:xfrm>
          <a:prstGeom prst="roundRect">
            <a:avLst>
              <a:gd name="adj" fmla="val 15652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2047875"/>
            <a:ext cx="47625" cy="1095375"/>
          </a:xfrm>
          <a:prstGeom prst="rect">
            <a:avLst/>
          </a:prstGeom>
          <a:solidFill>
            <a:srgbClr val="FF6B6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2219325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红方自挖风险</a:t>
            </a:r>
            <a:endParaRPr sz="1575" b="1">
              <a:solidFill>
                <a:srgbClr val="FF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600325"/>
            <a:ext cx="2533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7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探测授权目标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记录攻击与正常交换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619625" y="2047875"/>
            <a:ext cx="2952750" cy="1095375"/>
          </a:xfrm>
          <a:prstGeom prst="roundRect">
            <a:avLst>
              <a:gd name="adj" fmla="val 15652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19625" y="2047875"/>
            <a:ext cx="47625" cy="1095375"/>
          </a:xfrm>
          <a:prstGeom prst="rect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829175" y="2219325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JEV 独立判断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829175" y="2600325"/>
            <a:ext cx="2533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7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判攻 / 正常，与规则并行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保留分歧与误报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82000" y="2047875"/>
            <a:ext cx="2952750" cy="1095375"/>
          </a:xfrm>
          <a:prstGeom prst="roundRect">
            <a:avLst>
              <a:gd name="adj" fmla="val 15652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0" y="2047875"/>
            <a:ext cx="47625" cy="1095375"/>
          </a:xfrm>
          <a:prstGeom prst="rect">
            <a:avLst/>
          </a:prstGeom>
          <a:solidFill>
            <a:srgbClr val="4A91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91550" y="2219325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4A9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4A9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蓝方自修补</a:t>
            </a:r>
            <a:endParaRPr sz="1575" b="1">
              <a:solidFill>
                <a:srgbClr val="4A9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91550" y="2600325"/>
            <a:ext cx="2533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7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模型生成候选 diff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通过门禁后部署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82000" y="3905250"/>
            <a:ext cx="2952750" cy="1095375"/>
          </a:xfrm>
          <a:prstGeom prst="roundRect">
            <a:avLst>
              <a:gd name="adj" fmla="val 15652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3905250"/>
            <a:ext cx="47625" cy="1095375"/>
          </a:xfrm>
          <a:prstGeom prst="rect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91550" y="40767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复测验证改进</a:t>
            </a:r>
            <a:endParaRPr sz="1575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91550" y="4457700"/>
            <a:ext cx="2533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7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重放攻击 + 正常业务测试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验证结果与恢复过程留证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619625" y="3905250"/>
            <a:ext cx="2952750" cy="1095375"/>
          </a:xfrm>
          <a:prstGeom prst="roundRect">
            <a:avLst>
              <a:gd name="adj" fmla="val 15652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19625" y="3905250"/>
            <a:ext cx="47625" cy="1095375"/>
          </a:xfrm>
          <a:prstGeom prst="rect">
            <a:avLst/>
          </a:prstGeom>
          <a:solidFill>
            <a:srgbClr val="FFC857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29175" y="40767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形成训练材料</a:t>
            </a:r>
            <a:endParaRPr sz="157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29175" y="4457700"/>
            <a:ext cx="2533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7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样本入队、去重与人工复核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按家族切分，隔离评估集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57250" y="3905250"/>
            <a:ext cx="2952750" cy="1095375"/>
          </a:xfrm>
          <a:prstGeom prst="roundRect">
            <a:avLst>
              <a:gd name="adj" fmla="val 15652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57250" y="3905250"/>
            <a:ext cx="47625" cy="1095375"/>
          </a:xfrm>
          <a:prstGeom prst="rect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66800" y="40767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下一版 JEV</a:t>
            </a:r>
            <a:endParaRPr sz="1575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4457700"/>
            <a:ext cx="2533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7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离线重训 + 封存评估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通过后参与下一轮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914775" y="24003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39"/>
          </a:bodyPr>
          <a:lstStyle/>
          <a:p>
            <a:pPr algn="ctr">
              <a:def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77150" y="24003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39"/>
          </a:bodyPr>
          <a:lstStyle/>
          <a:p>
            <a:pPr algn="ctr">
              <a:def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72625" y="3276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39"/>
          </a:bodyPr>
          <a:lstStyle/>
          <a:p>
            <a:pPr algn="ctr">
              <a:def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5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677150" y="42576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39"/>
          </a:bodyPr>
          <a:lstStyle/>
          <a:p>
            <a:pPr algn="ctr">
              <a:def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←</a:t>
            </a:r>
            <a:endParaRPr sz="25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914775" y="42576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39"/>
          </a:bodyPr>
          <a:lstStyle/>
          <a:p>
            <a:pPr algn="ctr">
              <a:def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←</a:t>
            </a:r>
            <a:endParaRPr sz="25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028825" y="3276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39"/>
          </a:bodyPr>
          <a:lstStyle/>
          <a:p>
            <a:pPr algn="ctr">
              <a:defRPr sz="2550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↑</a:t>
            </a:r>
            <a:endParaRPr sz="2550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3333750"/>
            <a:ext cx="5219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 n → n+1</a:t>
            </a:r>
            <a:endParaRPr sz="1725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524250" y="3686175"/>
            <a:ext cx="514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代码修补反馈 + 判官训练反馈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5343525"/>
            <a:ext cx="1057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已实跑：探测、判读、门禁修补、复测、样本入队；已完成历史材料上的 v3 训练与评估。</a:t>
            </a:r>
            <a:endParaRPr sz="1350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5762625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下一步：审核本轮新样本并重训。当前在线仍使用 v3；下一版权重尚未产出。</a:t>
            </a:r>
            <a:endParaRPr sz="127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风险背景 · 公开披露案例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模型能力、工具权限与隔离边界必须一起治理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438275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20000"/>
          </a:bodyPr>
          <a:lstStyle/>
          <a:p>
            <a:pPr algn="l">
              <a:defRPr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</a:t>
            </a:r>
            <a:r>
              <a:rPr lang="zh-CN"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</a:t>
            </a:r>
            <a:r>
              <a:rPr lang="en-US" altLang="zh-CN"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攻击事件</a:t>
            </a:r>
            <a:r>
              <a:rPr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：OpenAI的AI agent越过隔离边界，</a:t>
            </a:r>
            <a:r>
              <a:rPr lang="zh-CN"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</a:t>
            </a:r>
            <a:r>
              <a:rPr sz="187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Hugging Face 基础设施。</a:t>
            </a:r>
            <a:endParaRPr sz="1875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47700" y="2276475"/>
            <a:ext cx="3238500" cy="1809750"/>
          </a:xfrm>
          <a:prstGeom prst="roundRect">
            <a:avLst>
              <a:gd name="adj" fmla="val 9474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2276475"/>
            <a:ext cx="47625" cy="1809750"/>
          </a:xfrm>
          <a:prstGeom prst="rect">
            <a:avLst/>
          </a:prstGeom>
          <a:solidFill>
            <a:srgbClr val="FF6B6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4479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</a:t>
            </a:r>
            <a:endParaRPr sz="1575" b="1">
              <a:solidFill>
                <a:srgbClr val="FF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828925"/>
            <a:ext cx="2819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内部网络安全评测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启用降低拒绝限制的模型能力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400550" y="2276475"/>
            <a:ext cx="3238500" cy="1809750"/>
          </a:xfrm>
          <a:prstGeom prst="roundRect">
            <a:avLst>
              <a:gd name="adj" fmla="val 9474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2276475"/>
            <a:ext cx="47625" cy="1809750"/>
          </a:xfrm>
          <a:prstGeom prst="rect">
            <a:avLst/>
          </a:prstGeom>
          <a:solidFill>
            <a:srgbClr val="FFC857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10100" y="24479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边界失效</a:t>
            </a:r>
            <a:endParaRPr sz="157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2828925"/>
            <a:ext cx="2819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利用软件供应链代理中的漏洞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取得外网访问并串联攻击步骤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153400" y="2276475"/>
            <a:ext cx="3238500" cy="1809750"/>
          </a:xfrm>
          <a:prstGeom prst="roundRect">
            <a:avLst>
              <a:gd name="adj" fmla="val 9474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2276475"/>
            <a:ext cx="47625" cy="1809750"/>
          </a:xfrm>
          <a:prstGeom prst="rect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62950" y="24479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处置结果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62950" y="2828925"/>
            <a:ext cx="2819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检测并遏制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披露称 5 个挑战/解答相关数据集被访问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7700" y="44481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zh-CN" sz="16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</a:t>
            </a:r>
            <a:r>
              <a:rPr sz="16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机构的启示</a:t>
            </a:r>
            <a:endParaRPr sz="16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" y="4838700"/>
            <a:ext cx="1019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模型输出不是唯一风险面：工具权限、依赖来源、网络边界和业务连续性都需要被验证。</a:t>
            </a:r>
            <a:endParaRPr sz="18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 · 保险机构的安全假设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保险业务对“可控、可恢复、可审计”要求更高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4097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26"/>
          </a:bodyPr>
          <a:lstStyle/>
          <a:p>
            <a:pPr algn="l">
              <a:defRPr sz="172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保单、理赔、核保和客服流程都依赖身份、数据与第三方系统。一次输入漏洞可能同时影响资金、隐私和服务连续性。</a:t>
            </a:r>
            <a:endParaRPr sz="1725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723900" y="2571750"/>
            <a:ext cx="2190750" cy="1066800"/>
          </a:xfrm>
          <a:prstGeom prst="roundRect">
            <a:avLst>
              <a:gd name="adj" fmla="val 16071"/>
            </a:avLst>
          </a:prstGeom>
          <a:solidFill>
            <a:srgbClr val="14263A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272415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客户入口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31337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 / 会话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981325" y="28860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495675" y="2571750"/>
            <a:ext cx="2190750" cy="1066800"/>
          </a:xfrm>
          <a:prstGeom prst="roundRect">
            <a:avLst>
              <a:gd name="adj" fmla="val 16071"/>
            </a:avLst>
          </a:prstGeom>
          <a:solidFill>
            <a:srgbClr val="14263A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67125" y="272415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 API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67125" y="31337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保单 / 理赔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53100" y="28860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67450" y="2571750"/>
            <a:ext cx="2190750" cy="1066800"/>
          </a:xfrm>
          <a:prstGeom prst="roundRect">
            <a:avLst>
              <a:gd name="adj" fmla="val 16071"/>
            </a:avLst>
          </a:prstGeom>
          <a:solidFill>
            <a:srgbClr val="14263A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272415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157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31337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 / 自动化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24875" y="28860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039225" y="2571750"/>
            <a:ext cx="2190750" cy="1066800"/>
          </a:xfrm>
          <a:prstGeom prst="roundRect">
            <a:avLst>
              <a:gd name="adj" fmla="val 16071"/>
            </a:avLst>
          </a:prstGeom>
          <a:solidFill>
            <a:srgbClr val="14263A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10675" y="272415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核心数据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10675" y="31337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 / 资金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23900" y="4143375"/>
            <a:ext cx="3238500" cy="142875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4143375"/>
            <a:ext cx="47625" cy="1428750"/>
          </a:xfrm>
          <a:prstGeom prst="rect">
            <a:avLst/>
          </a:prstGeom>
          <a:solidFill>
            <a:srgbClr val="FF6B6B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43148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我们要回答</a:t>
            </a:r>
            <a:endParaRPr sz="1575" b="1">
              <a:solidFill>
                <a:srgbClr val="FF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" y="4695825"/>
            <a:ext cx="2819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攻击是否真的触达业务？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修补后正常业务是否仍可用？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476750" y="4143375"/>
            <a:ext cx="3238500" cy="142875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476750" y="4143375"/>
            <a:ext cx="47625" cy="1428750"/>
          </a:xfrm>
          <a:prstGeom prst="rect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686300" y="43148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评委能核验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686300" y="4695825"/>
            <a:ext cx="2819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补丁是否就是通过评审的候选？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同一攻击复测是否被阻断？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229600" y="4143375"/>
            <a:ext cx="3238500" cy="142875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229600" y="4143375"/>
            <a:ext cx="47625" cy="1428750"/>
          </a:xfrm>
          <a:prstGeom prst="rect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439150" y="43148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运营可追踪</a:t>
            </a:r>
            <a:endParaRPr sz="1575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439150" y="4695825"/>
            <a:ext cx="2819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运行编号、事件、测试、恢复哈希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是否串成一条审计证据链？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23900" y="5810250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此处为保险业务风险建模示例，不代表具体保险机构已发生事件或合规结论。</a:t>
            </a:r>
            <a:endParaRPr sz="1200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系统结构 · 不是“前端在调用一堆服务”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主闭环由 FastAPI 入口启动，由 DemoCase 编排推进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523875" y="1905000"/>
            <a:ext cx="2000250" cy="1285875"/>
          </a:xfrm>
          <a:prstGeom prst="roundRect">
            <a:avLst>
              <a:gd name="adj" fmla="val 13333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57225" y="2095500"/>
            <a:ext cx="1733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 /demo</a:t>
            </a:r>
            <a:endParaRPr sz="15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8175" y="2543175"/>
            <a:ext cx="1771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评委可见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552700" y="2276475"/>
            <a:ext cx="28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847975" y="1905000"/>
            <a:ext cx="2000250" cy="1285875"/>
          </a:xfrm>
          <a:prstGeom prst="roundRect">
            <a:avLst>
              <a:gd name="adj" fmla="val 13333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981325" y="2095500"/>
            <a:ext cx="1733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</a:t>
            </a:r>
            <a:endParaRPr sz="15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962275" y="2543175"/>
            <a:ext cx="1771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run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统一运行编号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76800" y="2276475"/>
            <a:ext cx="28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172075" y="1905000"/>
            <a:ext cx="2000250" cy="1285875"/>
          </a:xfrm>
          <a:prstGeom prst="roundRect">
            <a:avLst>
              <a:gd name="adj" fmla="val 13333"/>
            </a:avLst>
          </a:prstGeom>
          <a:solidFill>
            <a:srgbClr val="18344A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05425" y="2095500"/>
            <a:ext cx="1733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DemoCase 编排器</a:t>
            </a:r>
            <a:endParaRPr sz="15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86375" y="2543175"/>
            <a:ext cx="1771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按阶段推进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写事件台账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00900" y="2276475"/>
            <a:ext cx="28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96175" y="1905000"/>
            <a:ext cx="2000250" cy="1285875"/>
          </a:xfrm>
          <a:prstGeom prst="roundRect">
            <a:avLst>
              <a:gd name="adj" fmla="val 13333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29525" y="2095500"/>
            <a:ext cx="1733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工具与模型</a:t>
            </a:r>
            <a:endParaRPr sz="15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10475" y="2543175"/>
            <a:ext cx="1771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红方 / 蓝方 / JEV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补丁 / 三道门禁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0" y="2276475"/>
            <a:ext cx="28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820275" y="1905000"/>
            <a:ext cx="2000250" cy="1285875"/>
          </a:xfrm>
          <a:prstGeom prst="roundRect">
            <a:avLst>
              <a:gd name="adj" fmla="val 13333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53625" y="2095500"/>
            <a:ext cx="1733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验证与恢复</a:t>
            </a:r>
            <a:endParaRPr sz="15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934575" y="2543175"/>
            <a:ext cx="1771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 / 业务测试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 / 收据</a:t>
            </a:r>
            <a:endParaRPr sz="127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7700" y="3657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</a:t>
            </a:r>
            <a:endParaRPr sz="1350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7700" y="4000500"/>
            <a:ext cx="10810875" cy="19050"/>
          </a:xfrm>
          <a:prstGeom prst="rect">
            <a:avLst/>
          </a:prstGeom>
          <a:solidFill>
            <a:srgbClr val="35536B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7700" y="4219575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DGX Spark 本地 Qwen 负责补丁候选；JEV v3 在 GB10 上推理。StepFun 仅做候选 diff 的异构复核。</a:t>
            </a:r>
            <a:endParaRPr sz="16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47700" y="5000625"/>
            <a:ext cx="10896600" cy="857250"/>
          </a:xfrm>
          <a:prstGeom prst="roundRect">
            <a:avLst>
              <a:gd name="adj" fmla="val 15556"/>
            </a:avLst>
          </a:prstGeom>
          <a:solidFill>
            <a:srgbClr val="0E1A29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5191125"/>
            <a:ext cx="10429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是可复用的代理工作流入口；当前主演示链仍由 /demo → FastAPI → DemoCase 驱动。</a:t>
            </a:r>
            <a:endParaRPr sz="142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DGX SPARK 主演示 · RUN-20260927-140612-399B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一次运行，留下“攻击成功 → 修补验证 → 环境恢复”证据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26989"/>
            <a:ext cx="6610350" cy="3718322"/>
          </a:xfrm>
          <a:prstGeom prst="rect">
            <a:avLst/>
          </a:prstGeom>
        </p:spPr>
      </p:pic>
      <p:sp>
        <p:nvSpPr>
          <p:cNvPr id="4" name="圆角矩形 3"/>
          <p:cNvSpPr>
            <a:spLocks noGrp="1"/>
          </p:cNvSpPr>
          <p:nvPr/>
        </p:nvSpPr>
        <p:spPr>
          <a:xfrm>
            <a:off x="7467600" y="1428750"/>
            <a:ext cx="4114800" cy="4114800"/>
          </a:xfrm>
          <a:prstGeom prst="roundRect">
            <a:avLst>
              <a:gd name="adj" fmla="val 4167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696200" y="1733550"/>
            <a:ext cx="114300" cy="114300"/>
          </a:xfrm>
          <a:prstGeom prst="ellipse">
            <a:avLst/>
          </a:prstGeom>
          <a:solidFill>
            <a:srgbClr val="FF6B6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24800" y="16383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攻击前</a:t>
            </a:r>
            <a:endParaRPr sz="12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15400" y="1638300"/>
            <a:ext cx="24003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 marker 命中</a:t>
            </a:r>
            <a:endParaRPr sz="13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7696200" y="2457450"/>
            <a:ext cx="114300" cy="114300"/>
          </a:xfrm>
          <a:prstGeom prst="ellipse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924800" y="23622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</a:t>
            </a:r>
            <a:endParaRPr sz="12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15400" y="2362200"/>
            <a:ext cx="24003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项 PASS</a:t>
            </a:r>
            <a:endParaRPr sz="13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7696200" y="3181350"/>
            <a:ext cx="114300" cy="114300"/>
          </a:xfrm>
          <a:prstGeom prst="ellipse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924800" y="30861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修补后</a:t>
            </a:r>
            <a:endParaRPr sz="12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915400" y="3086100"/>
            <a:ext cx="24003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 0 / 2</a:t>
            </a:r>
            <a:endParaRPr sz="13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696200" y="3905250"/>
            <a:ext cx="114300" cy="114300"/>
          </a:xfrm>
          <a:prstGeom prst="ellipse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24800" y="38100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</a:t>
            </a:r>
            <a:endParaRPr sz="12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15400" y="3810000"/>
            <a:ext cx="24003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正常断言 + 11 tests PASS</a:t>
            </a:r>
            <a:endParaRPr sz="13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7696200" y="4629150"/>
            <a:ext cx="114300" cy="114300"/>
          </a:xfrm>
          <a:prstGeom prst="ellipse">
            <a:avLst/>
          </a:prstGeom>
          <a:solidFill>
            <a:srgbClr val="F2F6FC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24800" y="45339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收尾</a:t>
            </a:r>
            <a:endParaRPr sz="12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15400" y="4533900"/>
            <a:ext cx="24003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目标恢复 / run succeeded</a:t>
            </a:r>
            <a:endParaRPr sz="13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67600" y="49530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 run ID · diff 可见 · 候选哈希 = 部署哈希 · 结束状态 verified / restored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" y="5743575"/>
            <a:ext cx="1071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演示截图取自只读回放；LIVE 连续录屏单独留存，画面不是伪装成一镜到底。</a:t>
            </a:r>
            <a:endParaRPr sz="1125" b="0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RSI 的训练回环 · 数据、权重与复测证据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两条反馈一起推进：代码更安全，判官有新材料可学习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47700" y="1924050"/>
            <a:ext cx="2400300" cy="1781175"/>
          </a:xfrm>
          <a:prstGeom prst="roundRect">
            <a:avLst>
              <a:gd name="adj" fmla="val 9626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924050"/>
            <a:ext cx="47625" cy="1781175"/>
          </a:xfrm>
          <a:prstGeom prst="rect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2095500"/>
            <a:ext cx="198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历史对抗材料</a:t>
            </a:r>
            <a:endParaRPr sz="1575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476500"/>
            <a:ext cx="19812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17,403 条训练样本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4,244 条 holdout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家族跨侧重叠 0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76575" y="2581275"/>
            <a:ext cx="314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02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409950" y="1924050"/>
            <a:ext cx="2400300" cy="1781175"/>
          </a:xfrm>
          <a:prstGeom prst="roundRect">
            <a:avLst>
              <a:gd name="adj" fmla="val 9626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09950" y="1924050"/>
            <a:ext cx="47625" cy="1781175"/>
          </a:xfrm>
          <a:prstGeom prst="rect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19500" y="2095500"/>
            <a:ext cx="198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v3 已训练部署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19500" y="2476500"/>
            <a:ext cx="19812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Qwen3.5-4B + LoRA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Spark 上判读流量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线上保留独立判断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38825" y="2581275"/>
            <a:ext cx="314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02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72200" y="1924050"/>
            <a:ext cx="2400300" cy="1781175"/>
          </a:xfrm>
          <a:prstGeom prst="roundRect">
            <a:avLst>
              <a:gd name="adj" fmla="val 9626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172200" y="1924050"/>
            <a:ext cx="47625" cy="1781175"/>
          </a:xfrm>
          <a:prstGeom prst="rect">
            <a:avLst/>
          </a:prstGeom>
          <a:solidFill>
            <a:srgbClr val="FFC85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2095500"/>
            <a:ext cx="198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本轮产生新经验</a:t>
            </a:r>
            <a:endParaRPr sz="157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81750" y="2476500"/>
            <a:ext cx="19812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 / 正常交换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修补前后复测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规则与 JEV 分歧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01075" y="2581275"/>
            <a:ext cx="314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02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934450" y="1924050"/>
            <a:ext cx="2400300" cy="1781175"/>
          </a:xfrm>
          <a:prstGeom prst="roundRect">
            <a:avLst>
              <a:gd name="adj" fmla="val 9626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1924050"/>
            <a:ext cx="47625" cy="1781175"/>
          </a:xfrm>
          <a:prstGeom prst="rect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0" y="2095500"/>
            <a:ext cx="198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下一版模型候选</a:t>
            </a:r>
            <a:endParaRPr sz="1575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0" y="2476500"/>
            <a:ext cx="19812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复核标签与去重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家族切分 → 离线训练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封存评估通过后上线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47700" y="4143375"/>
            <a:ext cx="5172075" cy="1343025"/>
          </a:xfrm>
          <a:prstGeom prst="roundRect">
            <a:avLst>
              <a:gd name="adj" fmla="val 12766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7700" y="4143375"/>
            <a:ext cx="47625" cy="1343025"/>
          </a:xfrm>
          <a:prstGeom prst="rect">
            <a:avLst/>
          </a:prstGeom>
          <a:solidFill>
            <a:srgbClr val="4A91F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4314825"/>
            <a:ext cx="4752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4A9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4A9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代码反馈：已在主运行验证</a:t>
            </a:r>
            <a:endParaRPr sz="1575" b="1">
              <a:solidFill>
                <a:srgbClr val="4A9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7250" y="4695825"/>
            <a:ext cx="47529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候选补丁通过三道门禁后部署；相同攻击重放 0/2，正常业务断言与 11 项功能测试通过。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362700" y="4143375"/>
            <a:ext cx="5172075" cy="1343025"/>
          </a:xfrm>
          <a:prstGeom prst="roundRect">
            <a:avLst>
              <a:gd name="adj" fmla="val 12766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362700" y="4143375"/>
            <a:ext cx="47625" cy="1343025"/>
          </a:xfrm>
          <a:prstGeom prst="rect">
            <a:avLst/>
          </a:prstGeom>
          <a:solidFill>
            <a:srgbClr val="FFC857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572250" y="4314825"/>
            <a:ext cx="4752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模型反馈：新材料进入候选流程</a:t>
            </a:r>
            <a:endParaRPr sz="157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4695825"/>
            <a:ext cx="47529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误报与新交换进入复核，避免把模型自己的判断直接当训练真值。下一版训练与评估是后续验收点。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5772150"/>
            <a:ext cx="107251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自我改进的对象包括代码与判官；每次升级都要能回答“数据从哪来、标签凭什么、复测是否通过”。</a:t>
            </a:r>
            <a:endParaRPr sz="1425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RSI 的判官 · 判读结果、分歧与模型评估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连接对抗与学习：独立判流量，暴露待改进样本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44228"/>
            <a:ext cx="5143500" cy="2893219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609600" y="4533900"/>
            <a:ext cx="514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Qwen3.5-4B + LoRA</a:t>
            </a:r>
            <a:endParaRPr sz="16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933950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输入真实交换，输出攻 / 正常 / 弃权。与规则的分歧进入复核，帮助筛选后续训练材料。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191250" y="1428750"/>
            <a:ext cx="5391150" cy="4114800"/>
          </a:xfrm>
          <a:prstGeom prst="roundRect">
            <a:avLst>
              <a:gd name="adj" fmla="val 4167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0" y="16764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混合域 holdout</a:t>
            </a:r>
            <a:endParaRPr sz="12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0" y="2028825"/>
            <a:ext cx="2286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0.9955</a:t>
            </a:r>
            <a:endParaRPr sz="36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0" y="2657475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 · n = 4,244</a:t>
            </a:r>
            <a:endParaRPr sz="13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3095625"/>
            <a:ext cx="4762500" cy="9525"/>
          </a:xfrm>
          <a:prstGeom prst="rect">
            <a:avLst/>
          </a:prstGeom>
          <a:solidFill>
            <a:srgbClr val="29415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77000" y="33147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封存 B 卷</a:t>
            </a:r>
            <a:endParaRPr sz="12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3638550"/>
            <a:ext cx="214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0.9992</a:t>
            </a:r>
            <a:endParaRPr sz="30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36766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 · n = 7,266</a:t>
            </a:r>
            <a:endParaRPr sz="1500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0" y="4248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 1.000 · precision 0.9987 · abstain 0</a:t>
            </a:r>
            <a:endParaRPr sz="120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4648200"/>
            <a:ext cx="4762500" cy="9525"/>
          </a:xfrm>
          <a:prstGeom prst="rect">
            <a:avLst/>
          </a:prstGeom>
          <a:solidFill>
            <a:srgbClr val="294158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48577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 GB10 单发：median 80.8 ms · p95 118.5 ms · 12.17/s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5743575"/>
            <a:ext cx="108204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边界：B 卷请求面归一后与旧域同形；不能据此宣称识别真正全新的攻击。在线主运行曾出现 3 条正常 /login 被 JEV 误报，仍需校准。</a:t>
            </a:r>
            <a:endParaRPr sz="112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09600" y="3238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 · 落地 · 下一步</a:t>
            </a:r>
            <a:endParaRPr sz="10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RSI 工作流封装成 Skills，交给其他智能体复用</a:t>
            </a:r>
            <a:endParaRPr sz="25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47700" y="1476375"/>
            <a:ext cx="4953000" cy="866775"/>
          </a:xfrm>
          <a:prstGeom prst="roundRect">
            <a:avLst>
              <a:gd name="adj" fmla="val 19780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76375"/>
            <a:ext cx="47625" cy="866775"/>
          </a:xfrm>
          <a:prstGeom prst="rect">
            <a:avLst/>
          </a:prstGeom>
          <a:solidFill>
            <a:srgbClr val="FF6B6B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64782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aegis-hunt</a:t>
            </a:r>
            <a:endParaRPr sz="1575" b="1">
              <a:solidFill>
                <a:srgbClr val="FF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028825"/>
            <a:ext cx="45339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63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在授权目标上探测并归档可复现发现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29325" y="1476375"/>
            <a:ext cx="4953000" cy="866775"/>
          </a:xfrm>
          <a:prstGeom prst="roundRect">
            <a:avLst>
              <a:gd name="adj" fmla="val 19780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29325" y="1476375"/>
            <a:ext cx="47625" cy="866775"/>
          </a:xfrm>
          <a:prstGeom prst="rect">
            <a:avLst/>
          </a:prstGeom>
          <a:solidFill>
            <a:srgbClr val="59D8E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238875" y="164782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aegis-evolve</a:t>
            </a:r>
            <a:endParaRPr sz="1575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38875" y="2028825"/>
            <a:ext cx="45339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63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POC 候选，写回经验库供下轮复用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7700" y="2600325"/>
            <a:ext cx="4953000" cy="866775"/>
          </a:xfrm>
          <a:prstGeom prst="roundRect">
            <a:avLst>
              <a:gd name="adj" fmla="val 19780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2600325"/>
            <a:ext cx="47625" cy="866775"/>
          </a:xfrm>
          <a:prstGeom prst="rect">
            <a:avLst/>
          </a:prstGeom>
          <a:solidFill>
            <a:srgbClr val="63D6A1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277177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3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aegis-self-repair</a:t>
            </a:r>
            <a:endParaRPr sz="1575" b="1">
              <a:solidFill>
                <a:srgbClr val="63D6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3152775"/>
            <a:ext cx="45339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63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已登记修补：真实 CLI，17/17 收据核验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29325" y="2600325"/>
            <a:ext cx="4953000" cy="866775"/>
          </a:xfrm>
          <a:prstGeom prst="roundRect">
            <a:avLst>
              <a:gd name="adj" fmla="val 19780"/>
            </a:avLst>
          </a:prstGeom>
          <a:solidFill>
            <a:srgbClr val="101D2D"/>
          </a:solidFill>
          <a:ln w="9525">
            <a:solidFill>
              <a:srgbClr val="29415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29325" y="2600325"/>
            <a:ext cx="47625" cy="866775"/>
          </a:xfrm>
          <a:prstGeom prst="rect">
            <a:avLst/>
          </a:prstGeom>
          <a:solidFill>
            <a:srgbClr val="FFC857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38875" y="277177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C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aegis-jevtrain</a:t>
            </a:r>
            <a:endParaRPr sz="1575" b="1">
              <a:solidFill>
                <a:srgbClr val="FFC8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38875" y="3152775"/>
            <a:ext cx="45339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63"/>
          </a:bodyPr>
          <a:lstStyle/>
          <a:p>
            <a:pPr algn="l">
              <a:def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整理判官候选材料；审核后才进入训练</a:t>
            </a:r>
            <a:endParaRPr sz="135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47700" y="3886200"/>
            <a:ext cx="10896600" cy="895350"/>
          </a:xfrm>
          <a:prstGeom prst="roundRect">
            <a:avLst>
              <a:gd name="adj" fmla="val 17021"/>
            </a:avLst>
          </a:prstGeom>
          <a:solidFill>
            <a:srgbClr val="102338"/>
          </a:solidFill>
          <a:ln w="9525">
            <a:solidFill>
              <a:srgbClr val="2A506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6775" y="40290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改进与迁移旁证（各有独立记录）</a:t>
            </a:r>
            <a:endParaRPr sz="135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6775" y="4362450"/>
            <a:ext cx="1021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同一已知目标 21→3：人审后的经验库复用。C 工作副本修补重放 0/2；严格 oracle 验收未齐。</a:t>
            </a:r>
            <a:endParaRPr sz="13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1435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</a:t>
            </a:r>
            <a:r>
              <a:rPr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：在真正不同结构的盲测靶场验证泛化；减少 /login 误报；完成人</a:t>
            </a:r>
            <a:r>
              <a:rPr lang="zh-CN"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</a:t>
            </a:r>
            <a:r>
              <a:rPr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</a:t>
            </a:r>
            <a:r>
              <a:rPr lang="zh-CN"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</a:t>
            </a:r>
            <a:r>
              <a:rPr sz="1650" b="1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后的 JEV 训练与封存评估。</a:t>
            </a:r>
            <a:endParaRPr sz="1650" b="1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581025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 → 判读 → 修补 → 复测 → 训练材料 → 下一轮改进</a:t>
            </a:r>
            <a:endParaRPr sz="18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20364A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486525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8B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AEGIS · DGX SPARK HACKATHON</a:t>
            </a:r>
            <a:endParaRPr sz="975" b="1">
              <a:solidFill>
                <a:srgbClr val="A8B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96625" y="64579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1">
              <a:solidFill>
                <a:srgbClr val="5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2815</Words>
  <Application>WPS 演示</Application>
  <PresentationFormat>Converted Presentation</PresentationFormat>
  <Paragraphs>344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姚晓栋</cp:lastModifiedBy>
  <cp:revision>2</cp:revision>
  <dcterms:created xsi:type="dcterms:W3CDTF">2026-09-29T06:30:34Z</dcterms:created>
  <dcterms:modified xsi:type="dcterms:W3CDTF">2026-09-29T06:52:56Z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D7374EDD3A9448C6AA2FB8401C4181DD</vt:lpwstr>
  </property>
  <property fmtid="{D5CDD505-2E9C-101B-9397-08002B2CF9AE}" pid="3" name="KSOProductBuildVer">
    <vt:lpwstr>2052-11.8.2.12118</vt:lpwstr>
  </property>
</Properties>
</file>